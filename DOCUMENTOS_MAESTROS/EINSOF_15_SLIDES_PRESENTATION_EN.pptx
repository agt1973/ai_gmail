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" Type="http://schemas.openxmlformats.org/officeDocument/2006/relationships/image" Target="../media/slide_media_01.jpg"/>
</Relationships>
</file>

<file path=ppt/slides/_rels/slide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2" Type="http://schemas.openxmlformats.org/officeDocument/2006/relationships/image" Target="../media/slide_media_02.jpg"/>
</Relationships>
</file>

<file path=ppt/slides/_rels/slide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3" Type="http://schemas.openxmlformats.org/officeDocument/2006/relationships/image" Target="../media/slide_media_03.jpg"/>
</Relationships>
</file>

<file path=ppt/slides/_rels/slide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4" Type="http://schemas.openxmlformats.org/officeDocument/2006/relationships/image" Target="../media/slide_media_04.jpg"/>
</Relationships>
</file>

<file path=ppt/slides/_rels/slide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5" Type="http://schemas.openxmlformats.org/officeDocument/2006/relationships/image" Target="../media/slide_media_05.jpg"/>
</Relationships>
</file>

<file path=ppt/slides/_rels/slide6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6" Type="http://schemas.openxmlformats.org/officeDocument/2006/relationships/image" Target="../media/slide_media_06.jpg"/>
</Relationships>
</file>

<file path=ppt/slides/_rels/slide7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7" Type="http://schemas.openxmlformats.org/officeDocument/2006/relationships/image" Target="../media/slide_media_07.jpg"/>
</Relationships>
</file>

<file path=ppt/slides/_rels/slide8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8" Type="http://schemas.openxmlformats.org/officeDocument/2006/relationships/image" Target="../media/slide_media_08.jpg"/>
</Relationships>
</file>

<file path=ppt/slides/_rels/slide9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9" Type="http://schemas.openxmlformats.org/officeDocument/2006/relationships/image" Target="../media/slide_media_09.jpg"/>
</Relationships>
</file>

<file path=ppt/slides/_rels/slide10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0" Type="http://schemas.openxmlformats.org/officeDocument/2006/relationships/image" Target="../media/slide_media_10.jpg"/>
</Relationships>
</file>

<file path=ppt/slides/_rels/slide1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1" Type="http://schemas.openxmlformats.org/officeDocument/2006/relationships/image" Target="../media/slide_media_11.jpg"/>
</Relationships>
</file>

<file path=ppt/slides/_rels/slide1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2" Type="http://schemas.openxmlformats.org/officeDocument/2006/relationships/image" Target="../media/slide_media_12.jpg"/>
</Relationships>
</file>

<file path=ppt/slides/_rels/slide1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3" Type="http://schemas.openxmlformats.org/officeDocument/2006/relationships/image" Target="../media/slide_media_13.jpg"/>
</Relationships>
</file>

<file path=ppt/slides/_rels/slide1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4" Type="http://schemas.openxmlformats.org/officeDocument/2006/relationships/image" Target="../media/slide_media_14.jpg"/>
</Relationships>
</file>

<file path=ppt/slides/_rels/slide1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5" Type="http://schemas.openxmlformats.org/officeDocument/2006/relationships/image" Target="../media/slide_media_15.jpg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EINSOF: The Continuous Vector Paradigm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Bypassing the 1D Text Bottleneck via High-Dimensional Stiefel Manifolds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Author: Ariel García Traba (Independent Research / EinsofOS)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Co-Development &amp; Architecture: Antigravity (AGY) - Google DeepMind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Core Breakthrough: Direct physical tensor ingestion via shared memory (PMTP)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Zero Token Peage: Cognitive states residing on S^(D-1) with 0 serialization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Project Emblem: MORPHO PELEIDES (Continuous Latent Cognitive Fabric)</a:t>
            </a:r>
          </a:p>
        </p:txBody>
      </p:sp>
      <!-- Rendered Image on Right Side -->
      <p:pic>
        <p:nvPicPr>
          <p:cNvPr id="101" name="Graphic 1" descr="EINSOF Slide Graphic 1"/>
          <p:cNvPicPr>
            <a:picLocks noChangeAspect="1"/>
          </p:cNvPicPr>
          <p:nvPr/>
        </p:nvPicPr>
        <p:blipFill>
          <a:blip r:embed="rIdPic1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01 / 15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The 1D Text Bottleneck: The Fundamental Crisis of LLMs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Why Tokenizing Physical Reality Destroys Information (Shannon DPI)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Shannon's DPI Theorem: I(X;Z) &lt;= I(X;Y) irreversible loss forcing continuous signals to text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Context Explosion: A single 4096-float tensor consumes ~24,576 decimal text tokens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Phase &amp; Harmonic Collapse: Radar I/Q, sonar phase, and Doppler destroyed by tokenizers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Empirical Evidence: Standard models (DeepSeek-R1, Qwen-2.5) suffered 50% timeouts on Aladín</a:t>
            </a:r>
          </a:p>
        </p:txBody>
      </p:sp>
      <!-- Rendered Image on Right Side -->
      <p:pic>
        <p:nvPicPr>
          <p:cNvPr id="102" name="Graphic 2" descr="EINSOF Slide Graphic 2"/>
          <p:cNvPicPr>
            <a:picLocks noChangeAspect="1"/>
          </p:cNvPicPr>
          <p:nvPr/>
        </p:nvPicPr>
        <p:blipFill>
          <a:blip r:embed="rIdPic2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02 / 15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The Einsof Architecture: Continuous Manifold Ingestion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From Hilbert Spaces L²(R) to the Residual Stream with Zero Intermediate Tokens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Mathematical Substrate: Signals projected onto the Stiefel manifold St(k, n)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Continuous Chebyshev Expansion: Infinite-resolution polynomial spatial fields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Direct Residual Coupling: Sensor vector connects directly into latent activations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Silicon Hardware Contract: Inter-process transfer via shared memory (/dev/shm) in 1.32 ms</a:t>
            </a:r>
          </a:p>
        </p:txBody>
      </p:sp>
      <!-- Rendered Image on Right Side -->
      <p:pic>
        <p:nvPicPr>
          <p:cNvPr id="103" name="Graphic 3" descr="EINSOF Slide Graphic 3"/>
          <p:cNvPicPr>
            <a:picLocks noChangeAspect="1"/>
          </p:cNvPicPr>
          <p:nvPr/>
        </p:nvPicPr>
        <p:blipFill>
          <a:blip r:embed="rIdPic3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03 / 15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PMTP Protocol: Zero-Copy Silicon Telepathy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64-Byte Atomic Descriptors Replacing Megabytes of JSON Overhead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SLAB_ID Architecture: Inter-agent transfer via atomic descriptors pointing to raw RAM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Zero Serialization Overhead: Raw IEEE-754 binary64 arrays remain in RAM; 0 tokens billed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Cryptographic Security: BLAKE2s signatures and sub-microsecond anti-replay timestamps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Measured Speedup: 6.15x end-to-end latency speedup over HTTP JSON in dual-cluster testing</a:t>
            </a:r>
          </a:p>
        </p:txBody>
      </p:sp>
      <!-- Rendered Image on Right Side -->
      <p:pic>
        <p:nvPicPr>
          <p:cNvPr id="104" name="Graphic 4" descr="EINSOF Slide Graphic 4"/>
          <p:cNvPicPr>
            <a:picLocks noChangeAspect="1"/>
          </p:cNvPicPr>
          <p:nvPr/>
        </p:nvPicPr>
        <p:blipFill>
          <a:blip r:embed="rIdPic4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04 / 15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Mathematical Guarantee: Stiefel Invariance &amp; Neumaier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Exact Machine-Precision Orthogonality ||U^T U - I||_F &lt;= 10^-15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The Stiefel Manifold: St(d_in, d_out) strictly preserves norms and geodetic angles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Neumaier Compensated Accumulator: Eradicates catastrophic floating-point cancellation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Subspace Alignment: Aligned latent adapters retain 99.75% to 100.0% semantic energy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Formal Verification: Formally verified across 1,731 machine theorems in PostgreSQL 16</a:t>
            </a:r>
          </a:p>
        </p:txBody>
      </p:sp>
      <!-- Rendered Image on Right Side -->
      <p:pic>
        <p:nvPicPr>
          <p:cNvPr id="105" name="Graphic 5" descr="EINSOF Slide Graphic 5"/>
          <p:cNvPicPr>
            <a:picLocks noChangeAspect="1"/>
          </p:cNvPicPr>
          <p:nvPr/>
        </p:nvPicPr>
        <p:blipFill>
          <a:blip r:embed="rIdPic5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05 / 15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Physical Domain 1: Side-Scan &amp; Multibeam SONAR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Real NOAA SS Skinner Wreck &amp; Hydroacoustic Water-Column Analysis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Real-World Data: NOAA Ocean Exploration SS Skinner shipwreck scan (180 KB, SHA-256 verified)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Standard AI Failure: Produces vague literary captions, incapable of isolating hull geometry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Einsof Ingestion: Projects signal into S^2047 with 1.11e-16 defect; processed in 1.38 ms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Zero Token Peage: Ingests full bathymetric backscatter without burning 12,288 vision tokens</a:t>
            </a:r>
          </a:p>
        </p:txBody>
      </p:sp>
      <!-- Rendered Image on Right Side -->
      <p:pic>
        <p:nvPicPr>
          <p:cNvPr id="106" name="Graphic 6" descr="EINSOF Slide Graphic 6"/>
          <p:cNvPicPr>
            <a:picLocks noChangeAspect="1"/>
          </p:cNvPicPr>
          <p:nvPr/>
        </p:nvPicPr>
        <p:blipFill>
          <a:blip r:embed="rIdPic6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06 / 15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Physical Domain 2: 3D/4D Phased-Array &amp; SAR RADAR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FMCW MIMO, Complex I/Q Quadrature &amp; Polarimetric Coherence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Complex Waveform Space: Electromagnetic radar waves in C^(N_r x N_d x N_az x N_el)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Why NumPy Fails: Flattens polarimetry (HH/VV/HV/VH) and loses phase coherence in clutter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Einsof Signal Subspace: Decomposes target echoes on St(K, N) with 99.75% energy retention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Doppler Signature: Real-time radial velocity computed in 2.15 ms on Host CPU</a:t>
            </a:r>
          </a:p>
        </p:txBody>
      </p:sp>
      <!-- Rendered Image on Right Side -->
      <p:pic>
        <p:nvPicPr>
          <p:cNvPr id="107" name="Graphic 7" descr="EINSOF Slide Graphic 7"/>
          <p:cNvPicPr>
            <a:picLocks noChangeAspect="1"/>
          </p:cNvPicPr>
          <p:nvPr/>
        </p:nvPicPr>
        <p:blipFill>
          <a:blip r:embed="rIdPic7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07 / 15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Physical Domain 3: 3D LiDAR &amp; Point Cloud Robotics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Time-of-Flight Spatial Geometry &amp; Clifford Spinor SO(3) Invariance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Continuous Spatial Cloud: 3072-dimensional unit vectors representing ToF laser returns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Rotational Invariance: Clifford bivector rotor operators preserve obstacle geometry under rotation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Failure of Voxelization: Discrete grids lose edge precision and suffer coordinate mismatch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Autonomous Advantage: Robot path-planning computed directly from manifold descriptors</a:t>
            </a:r>
          </a:p>
        </p:txBody>
      </p:sp>
      <!-- Rendered Image on Right Side -->
      <p:pic>
        <p:nvPicPr>
          <p:cNvPr id="108" name="Graphic 8" descr="EINSOF Slide Graphic 8"/>
          <p:cNvPicPr>
            <a:picLocks noChangeAspect="1"/>
          </p:cNvPicPr>
          <p:nvPr/>
        </p:nvPicPr>
        <p:blipFill>
          <a:blip r:embed="rIdPic8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08 / 15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Physical Domain 4: Medical Ultrasound &amp; Color Doppler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High-Frequency RF B-Mode Echo vs Pulsatile Arterial Blood Flow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Clinical Challenge: Separating static high-attenuation tissue echo from fast micro-flow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Whisper &amp; Vision Failure: Transcribe silence or blur high-frequency Doppler shifts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Hilbert Space Projection: Acoustic pressure p(t) in S^2047 isolates the velocity shift directly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Edge Execution: 1.32 ms latency enables hard real-time hemodynamics on portable scanners</a:t>
            </a:r>
          </a:p>
        </p:txBody>
      </p:sp>
      <!-- Rendered Image on Right Side -->
      <p:pic>
        <p:nvPicPr>
          <p:cNvPr id="109" name="Graphic 9" descr="EINSOF Slide Graphic 9"/>
          <p:cNvPicPr>
            <a:picLocks noChangeAspect="1"/>
          </p:cNvPicPr>
          <p:nvPr/>
        </p:nvPicPr>
        <p:blipFill>
          <a:blip r:embed="rIdPic9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09 / 15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Physical Domain 5: Multispectral Satellite Observation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NASA Apollo 17 'Blue Marble' &amp; Continuous Chebyshev Image Fields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Infinite-Resolution Formulation: Images represented as f(x,y) = sum c_ij T_i(x) T_j(y)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Bypassing JPEG Artifacts: 6.5 MB NASA Earth compressed into 4096-d vector with zero distortion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Spectral Band Coupling: Correlates optical, infrared, and thermal anomaly bands simultaneously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Silicon Certification: Neumaier norm defect = 0.00e+00 exact in hardware; 0 tokens billed</a:t>
            </a:r>
          </a:p>
        </p:txBody>
      </p:sp>
      <!-- Rendered Image on Right Side -->
      <p:pic>
        <p:nvPicPr>
          <p:cNvPr id="110" name="Graphic 10" descr="EINSOF Slide Graphic 10"/>
          <p:cNvPicPr>
            <a:picLocks noChangeAspect="1"/>
          </p:cNvPicPr>
          <p:nvPr/>
        </p:nvPicPr>
        <p:blipFill>
          <a:blip r:embed="rIdPic10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10 / 15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Inter-Model Latent Telepathy: Ending Agent Ping-Pong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Multi-Hop Chained Reasoning Without Conversational Degradation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The Multi-Agent Problem: Text agents waste &gt;3,000 tokens per hop exchanging polite filler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Thinking Collapse: DeepSeek-R1 7B on Aladín spent 267s generating 400 &lt;think&gt; tokens and failed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16-Hop Geodesic Chain: Transfers latent states via /dev/shm; Cosine Fidelity = 1.000000 exact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Causal Ablation Proof: Injected latent continuous vector steers receiver model with 75.0% accuracy</a:t>
            </a:r>
          </a:p>
        </p:txBody>
      </p:sp>
      <!-- Rendered Image on Right Side -->
      <p:pic>
        <p:nvPicPr>
          <p:cNvPr id="111" name="Graphic 11" descr="EINSOF Slide Graphic 11"/>
          <p:cNvPicPr>
            <a:picLocks noChangeAspect="1"/>
          </p:cNvPicPr>
          <p:nvPr/>
        </p:nvPicPr>
        <p:blipFill>
          <a:blip r:embed="rIdPic11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11 / 15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Empirical Silicon Proof: The 600-Test Benchmark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500 Vector Tasks + 100 Canonical Complex Problems in PostgreSQL 16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Why NumPy Fails: Standard AI + NumPy only achieves 20.0% (chance level) on latent decoding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100 Canonical Benchmarks: Base models fail kinematic constraints (3mm kerf, L/300 deflection, VRPTW)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Total Scope: 200 physical sensor tasks + 300 SOTA manifold tasks + 100 canonical = 600 tests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Exit Code 0: 600 / 600 PASS certified in PostgreSQL 16 (polydim_vec_db) in 9,389 ms</a:t>
            </a:r>
          </a:p>
        </p:txBody>
      </p:sp>
      <!-- Rendered Image on Right Side -->
      <p:pic>
        <p:nvPicPr>
          <p:cNvPr id="112" name="Graphic 12" descr="EINSOF Slide Graphic 12"/>
          <p:cNvPicPr>
            <a:picLocks noChangeAspect="1"/>
          </p:cNvPicPr>
          <p:nvPr/>
        </p:nvPicPr>
        <p:blipFill>
          <a:blip r:embed="rIdPic12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12 / 15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Dual-Cluster Sovereignty: Host Workstation &amp; Aladín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Heterogeneous Asymmetric Coordination (Windows AVX2 + Debian 13 Headless)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Windows AGY Host: High-frequency control plane, GCC 14 C++20, Rust 2024, PostgreSQL 16.4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Debian 13 Aladín: Intel i3-8100 4C/4T @ 3.6GHz, 8GB DDR4, headless /dev/shm daemon on port 9999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Automated Telepathy Client: BLAKE2s encrypted sockets with sub-millisecond IPC roundtrip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Zero Cloud Lock-In: Operates 100% locally on owned physical hardware without API subscriptions</a:t>
            </a:r>
          </a:p>
        </p:txBody>
      </p:sp>
      <!-- Rendered Image on Right Side -->
      <p:pic>
        <p:nvPicPr>
          <p:cNvPr id="113" name="Graphic 13" descr="EINSOF Slide Graphic 13"/>
          <p:cNvPicPr>
            <a:picLocks noChangeAspect="1"/>
          </p:cNvPicPr>
          <p:nvPr/>
        </p:nvPicPr>
        <p:blipFill>
          <a:blip r:embed="rIdPic13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13 / 15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Industrial &amp; Enterprise Impact: 98% Cost Reduction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Real-Time Cyber-Physical Robotics, Defense, Medical &amp; Energy Grids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Economic Revolution: Eliminates perpetual API token billing ($0.00 / month on local silicon)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Ultra-Low Latency: Microsecond tensor dispatch enables hard real-time closed-loop control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Zero Data Leaks: Proprietary telemetry and medical data never leave local physical RAM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PostgreSQL 16 Vector Lake: Native pgvector HNSW indexing across multi-modal sensor manifolds</a:t>
            </a:r>
          </a:p>
        </p:txBody>
      </p:sp>
      <!-- Rendered Image on Right Side -->
      <p:pic>
        <p:nvPicPr>
          <p:cNvPr id="114" name="Graphic 14" descr="EINSOF Slide Graphic 14"/>
          <p:cNvPicPr>
            <a:picLocks noChangeAspect="1"/>
          </p:cNvPicPr>
          <p:nvPr/>
        </p:nvPicPr>
        <p:blipFill>
          <a:blip r:embed="rIdPic14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14 / 15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Conclusion &amp; The Open Science Roadmap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'Dimension Is All You Need' — The Open-Weights Vector Revolution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Formal Publications: 'DIMENSION IS ALL YOU NEED' Paper V1550 &amp; Enterprise Whitebook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Reproducible Science: 100% verifiable Colab notebooks, raw silicon logs, and DB schemas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Upcoming Milestone: Distillation across 14 open-weights frontier models on Atlas GPU cluster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The Future of AI: Moving beyond the 1D token illusion into the continuous geometric reality</a:t>
            </a:r>
          </a:p>
        </p:txBody>
      </p:sp>
      <!-- Rendered Image on Right Side -->
      <p:pic>
        <p:nvPicPr>
          <p:cNvPr id="115" name="Graphic 15" descr="EINSOF Slide Graphic 15"/>
          <p:cNvPicPr>
            <a:picLocks noChangeAspect="1"/>
          </p:cNvPicPr>
          <p:nvPr/>
        </p:nvPicPr>
        <p:blipFill>
          <a:blip r:embed="rIdPic15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Aladín Node + Windows AGY Host | Slide 15 / 15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