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orpho1" Type="http://schemas.openxmlformats.org/officeDocument/2006/relationships/image" Target="../media/morpho_peleides_hd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orpho26" Type="http://schemas.openxmlformats.org/officeDocument/2006/relationships/image" Target="../media/morpho_peleides_hd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PROYECTO POLYDIM-EINSOF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DIMENSION IS ALL YOU NEED: IN INFINITUM</a:t>
            </a:r>
          </a:p>
          <a:p>
            <a:pPr>
              <a:spcAft>
                <a:spcPts val="2400"/>
              </a:spcAft>
              <a:defRPr sz="1400">
                <a:solidFill>
                  <a:srgbClr val="38BDF8"/>
                </a:solidFill>
              </a:defRPr>
            </a:pPr>
            <a:r>
              <a:t>De la Teoría del Colapso 1D a la Implementación de PMTP, MORPHO PELEIDES y el Dashboard FFI en Silicio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Autor: Ariel García Traba &amp; Antigravity (Google DeepMind Team)</a:t>
            </a:r>
            <a:br/>
            <a:r>
              <a:t>Institución: Independent Research / EinsofOS (Ariel García Traba (Independent Research)) | Tesis Doctoral 2026</a:t>
            </a:r>
            <a:br/>
            <a:r>
              <a:t>Kernel Certificado: V26300 en Silicio | 1.731 Teoremas Registrados en PostgreSQL 16</a:t>
            </a:r>
          </a:p>
        </p:txBody>
      </p:sp>
      <p:pic>
        <p:nvPicPr>
          <p:cNvPr id="2001" name="Morpho Emblem 1" descr="MORPHO PELEIDES Emblem"/>
          <p:cNvPicPr>
            <a:picLocks noChangeAspect="1"/>
          </p:cNvPicPr>
          <p:nvPr/>
        </p:nvPicPr>
        <p:blipFill>
          <a:blip r:embed="rIdMorpho1"/>
          <a:stretch>
            <a:fillRect/>
          </a:stretch>
        </p:blipFill>
        <p:spPr>
          <a:xfrm>
            <a:off x="7200000" y="1600000"/>
            <a:ext cx="4400000" cy="420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El Diagnóstico Epistemológico: El 'Cuello de Botella del Gusano 1D'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¿Por qué la arquitectura Transformer actual está estrangulada por el texto secuencial?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 ILUSIÓN LINGÜÍSTICA INTERMEDIA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Dogma Heredado: </a:t>
            </a:r>
            <a:r>
              <a:rPr sz="1100">
                <a:solidFill>
                  <a:srgbClr val="E2E8F0"/>
                </a:solidFill>
              </a:rPr>
              <a:t>Se asume que la cognición de una IA requiere emitir cadenas de tokens de texto palabra por palabra para 'pensar'.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Gusano 1D: </a:t>
            </a:r>
            <a:r>
              <a:rPr sz="1100">
                <a:solidFill>
                  <a:srgbClr val="E2E8F0"/>
                </a:solidFill>
              </a:rPr>
              <a:t>Obligar a una red de 70B de parámetros a colapsar tensores latentes continuos a vocabulario discreto (|V| ≈ 128k) destruye relaciones geométricas.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Degradación por Latencia: </a:t>
            </a:r>
            <a:r>
              <a:rPr sz="1100">
                <a:solidFill>
                  <a:srgbClr val="E2E8F0"/>
                </a:solidFill>
              </a:rPr>
              <a:t>Cada token requiere una pasada autorregresiva completa por la memoria HBM/VRAM (Memory-Bound Wall).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Peaje Computacional: </a:t>
            </a:r>
            <a:r>
              <a:rPr sz="1100">
                <a:solidFill>
                  <a:srgbClr val="E2E8F0"/>
                </a:solidFill>
              </a:rPr>
              <a:t>El razonamiento multi-paso actual genera decenas de miles de tokens intermedios que saturan el contexto O(N²).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tency_comparison_worm_vs_poly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1: Latencia 1D (Gusano de Tokens) vs Comunicación Tensorial Nativa.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Teorema DPI (Data Processing Inequality): Pérdida Entrópica Irreversible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Demostración analítica de la pérdida de información en el colapso autorregresivo.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03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FUNDAMENTACIÓN MATEMÁTICA DEL DPI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DPI Clásico: </a:t>
            </a:r>
            <a:r>
              <a:rPr sz="1100">
                <a:solidFill>
                  <a:srgbClr val="E2E8F0"/>
                </a:solidFill>
              </a:rPr>
              <a:t>Para la cadena de Markov X -&gt; Z -&gt; T -&gt; Y, se cumple que I(X; Y) &lt;= I(X; T) &lt;= I(X; Z).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Colapso Discreto: </a:t>
            </a:r>
            <a:r>
              <a:rPr sz="1100">
                <a:solidFill>
                  <a:srgbClr val="E2E8F0"/>
                </a:solidFill>
              </a:rPr>
              <a:t>Al proyectar un estado latente continuo Z in R^D sobre un token discreto T, la entropía diferencial colapsa irreversiblemente.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Acumulación de Error: </a:t>
            </a:r>
            <a:r>
              <a:rPr sz="1100">
                <a:solidFill>
                  <a:srgbClr val="E2E8F0"/>
                </a:solidFill>
              </a:rPr>
              <a:t>En cadenas de razonamiento largas (Chain-of-Thought de 10k tokens), el error de aproximación semántica diverge asintóticamente.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Preservación Hiperesférica: </a:t>
            </a:r>
            <a:r>
              <a:rPr sz="1100">
                <a:solidFill>
                  <a:srgbClr val="E2E8F0"/>
                </a:solidFill>
              </a:rPr>
              <a:t>Mantener la trayectoria en S^(D-1) retiene la información mutua I(X; Z_t) constante a lo largo de 100k pasos.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pi_entropy_and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2: Entropía DPI y Latencia en Colapso Discreto vs Continuo.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Hipótesis Hiperesférica: Estados de Pensamiento Continuo en S^(D-1)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Geometría unitaria de alta dimensión como sustrato natural del razonamiento.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04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GEOMÉTRICAS DE S^(D-1)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Concentración de Medida: </a:t>
            </a:r>
            <a:r>
              <a:rPr sz="1100">
                <a:solidFill>
                  <a:srgbClr val="E2E8F0"/>
                </a:solidFill>
              </a:rPr>
              <a:t>En D &gt;= 10.000, casi toda la masa de la esfera reside en un ecuador de ancho O(1/√D). Dos vectores aleatorios son casi ortogonales.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Escala: </a:t>
            </a:r>
            <a:r>
              <a:rPr sz="1100">
                <a:solidFill>
                  <a:srgbClr val="E2E8F0"/>
                </a:solidFill>
              </a:rPr>
              <a:t>La normalización canónica ||z|| = 1 elimina explosiones y desapariciones de gradiente numéricas.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de Hilbert Hiperesférico: </a:t>
            </a:r>
            <a:r>
              <a:rPr sz="1100">
                <a:solidFill>
                  <a:srgbClr val="E2E8F0"/>
                </a:solidFill>
              </a:rPr>
              <a:t>Las operaciones cognitivas son rotaciones continuas SO(D) y reflexiones de Clifford sin saltos discretos.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Supervivencia Asintótica: </a:t>
            </a:r>
            <a:r>
              <a:rPr sz="1100">
                <a:solidFill>
                  <a:srgbClr val="E2E8F0"/>
                </a:solidFill>
              </a:rPr>
              <a:t>Permite miles de transformaciones sin desborde numérico IEEE-754.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FORMULACIÓN ANALÍTICA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Variedad: </a:t>
            </a:r>
            <a:r>
              <a:rPr sz="1100">
                <a:solidFill>
                  <a:srgbClr val="E2E8F0"/>
                </a:solidFill>
              </a:rPr>
              <a:t>S^(D-1) = { x in R^D : ||x||_2 = 1 }, provista de la métrica riemanniana inducida por el producto euclídeo.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Distancia Geodésica: </a:t>
            </a:r>
            <a:r>
              <a:rPr sz="1100">
                <a:solidFill>
                  <a:srgbClr val="E2E8F0"/>
                </a:solidFill>
              </a:rPr>
              <a:t>d_geo(u, v) = arccos(u^T v), midiendo la divergencia angular exacta entre conceptos latentes.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Plano Tangente T_z M: </a:t>
            </a:r>
            <a:r>
              <a:rPr sz="1100">
                <a:solidFill>
                  <a:srgbClr val="E2E8F0"/>
                </a:solidFill>
              </a:rPr>
              <a:t>Cualquier perturbación cognitiva reside en el subespacio ortogonal: T_z S^(D-1) = { v in R^D : z^T v = 0 }.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Transporte Paralelo: </a:t>
            </a:r>
            <a:r>
              <a:rPr sz="1100">
                <a:solidFill>
                  <a:srgbClr val="E2E8F0"/>
                </a:solidFill>
              </a:rPr>
              <a:t>Permite mover vectores de contexto sin distorsión angular ni deformación de la base de características.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Geometría Diferencial en Variedades de Stiefel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Preservación isométrica estricta entre espacios latentes heterogéneos.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05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INMERSIÓN ISOMÉTRICA UNIVERSAL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Formal: </a:t>
            </a:r>
            <a:r>
              <a:rPr sz="1100">
                <a:solidFill>
                  <a:srgbClr val="E2E8F0"/>
                </a:solidFill>
              </a:rPr>
              <a:t>St(d, r) = { U in R^(d x r) : U^T U = I_r }, con r &lt;= d representando los marcos ortonormales.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Inmersión Isométrica: </a:t>
            </a:r>
            <a:r>
              <a:rPr sz="1100">
                <a:solidFill>
                  <a:srgbClr val="E2E8F0"/>
                </a:solidFill>
              </a:rPr>
              <a:t>Garantiza que la proyección z = U^T h preserve el producto interno en el subespacio proyectado: ||U^T h|| &lt;= ||h||.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del Drift: </a:t>
            </a:r>
            <a:r>
              <a:rPr sz="1100">
                <a:solidFill>
                  <a:srgbClr val="E2E8F0"/>
                </a:solidFill>
              </a:rPr>
              <a:t>Sin la restricción de Stiefel, las matrices de pesos lineales acumulan deriva espectral en bucles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T-MP26: </a:t>
            </a:r>
            <a:r>
              <a:rPr sz="1100">
                <a:solidFill>
                  <a:srgbClr val="E2E8F0"/>
                </a:solidFill>
              </a:rPr>
              <a:t>Alineamiento de representaciones heterogéneas con cota residual de proyección estrictamente acotada.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iefel_isometry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3: Deriva de Isometría en Proyección Simple vs Stiefel Manifold.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Retracción Polar de Newton-Schulz vs SVD en Silicio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Restauración ortogonal cuadrática en tiempo O(Dr²) sin descomposiciones pesadas.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ALGORITMO POLARSAFE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Cuello de Botella de SVD: </a:t>
            </a:r>
            <a:r>
              <a:rPr sz="1100">
                <a:solidFill>
                  <a:srgbClr val="E2E8F0"/>
                </a:solidFill>
              </a:rPr>
              <a:t>Calcular SVD clásica O(D³) en cada paso recurrente destruye el rendimiento de la GPU/CPU.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Iteración Newton-Schulz: </a:t>
            </a:r>
            <a:r>
              <a:rPr sz="1100">
                <a:solidFill>
                  <a:srgbClr val="E2E8F0"/>
                </a:solidFill>
              </a:rPr>
              <a:t>Ajuste quíntico adaptativo: X_{k+1} = X_k (15 I - 10 X_k^T X_k + 3 (X_k^T X_k)²) / 8 con convergencia de orden 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Precisión Bit a Bit: </a:t>
            </a:r>
            <a:r>
              <a:rPr sz="1100">
                <a:solidFill>
                  <a:srgbClr val="E2E8F0"/>
                </a:solidFill>
              </a:rPr>
              <a:t>Alcanza defecto de ortogonalidad ||X^T X - I|| &lt;= 1.11 x 10^-15 (1 ULP) en sólo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Fallback PolarSafe V2: </a:t>
            </a:r>
            <a:r>
              <a:rPr sz="1100">
                <a:solidFill>
                  <a:srgbClr val="E2E8F0"/>
                </a:solidFill>
              </a:rPr>
              <a:t>Inspección de condicionamiento κ(X) &lt; 10³; si la matriz es patológica, conmutación segura a Householder QR.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ectral_dynamics_newton_schul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4: Dinámica Espectral de Convergencia del Retractor Newton-Schulz.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Acumulador Compensado de Neumaier: Invarianza Numérica en Silicio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Eliminación de errores de redondeo catastróficos en productos punto de dimensión masiva.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07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PELIGRO DEL REDONDEO EN D &gt;= 10⁴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Sumatoria Estándar: </a:t>
            </a:r>
            <a:r>
              <a:rPr sz="1100">
                <a:solidFill>
                  <a:srgbClr val="E2E8F0"/>
                </a:solidFill>
              </a:rPr>
              <a:t>Acumular D = 100.000 componentes flotantes en FP32/FP64 acumula error O(D * ε_mach), distorsionando la norma.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Deriva de la Hiperesfera: </a:t>
            </a:r>
            <a:r>
              <a:rPr sz="1100">
                <a:solidFill>
                  <a:srgbClr val="E2E8F0"/>
                </a:solidFill>
              </a:rPr>
              <a:t>Un error de norma de 10^-6 traslada el vector fuera de S^(D-1), causando divergencia en 100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Neumaier: </a:t>
            </a:r>
            <a:r>
              <a:rPr sz="1100">
                <a:solidFill>
                  <a:srgbClr val="E2E8F0"/>
                </a:solidFill>
              </a:rPr>
              <a:t>Mantiene un término de compensación de bajo orden 'c' que captura los bits menos significativos descartados.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Cota de Error Teórica: </a:t>
            </a:r>
            <a:r>
              <a:rPr sz="1100">
                <a:solidFill>
                  <a:srgbClr val="E2E8F0"/>
                </a:solidFill>
              </a:rPr>
              <a:t>Garantiza error relativo |s - s_exact| / |s| &lt;= 2 ε_mach + O(D * ε_mach²), prácticamente independiente de 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EN C++20 / 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Vectorización SIMD: </a:t>
            </a:r>
            <a:r>
              <a:rPr sz="1100">
                <a:solidFill>
                  <a:srgbClr val="E2E8F0"/>
                </a:solidFill>
              </a:rPr>
              <a:t>Compilado nativamente en WinLibs GCC 14.2 con registros YMM (AVX2) y ZMM (AVX-512).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Medido en Silicio: </a:t>
            </a:r>
            <a:r>
              <a:rPr sz="1100">
                <a:solidFill>
                  <a:srgbClr val="E2E8F0"/>
                </a:solidFill>
              </a:rPr>
              <a:t>Error de norma en vector de 4.096 flotantes: err = 0.000e+00 (bit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Anti-Subnormales: </a:t>
            </a:r>
            <a:r>
              <a:rPr sz="1100">
                <a:solidFill>
                  <a:srgbClr val="E2E8F0"/>
                </a:solidFill>
              </a:rPr>
              <a:t>Flush-to-Zero (FTZ) y Denormals-are-Zero (DAZ) activados para evitar penalizaciones de 100 ciclos de reloj.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Regresión: </a:t>
            </a:r>
            <a:r>
              <a:rPr sz="1100">
                <a:solidFill>
                  <a:srgbClr val="E2E8F0"/>
                </a:solidFill>
              </a:rPr>
              <a:t>Ejecutado con Exit Code 0 en todas las suites de estrés físico de POLYDIM.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Transformada Rápida de Walsh-Hadamard (FWHT) en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Mezclado espectral hiperdimensional en tiempo O(D log D) y ancho de banda óptimo.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08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DISPERSIÓN DE INFORMACIÓN HOLOGRÁFICA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Mezclador sin Multiplicaciones: </a:t>
            </a:r>
            <a:r>
              <a:rPr sz="1100">
                <a:solidFill>
                  <a:srgbClr val="E2E8F0"/>
                </a:solidFill>
              </a:rPr>
              <a:t>La matriz de Hadamard H_D opera exclusivamente mediante sumas y restas 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Efecto Mariposa Holográfico: </a:t>
            </a:r>
            <a:r>
              <a:rPr sz="1100">
                <a:solidFill>
                  <a:srgbClr val="E2E8F0"/>
                </a:solidFill>
              </a:rPr>
              <a:t>Una perturbación en 1 dimensión se propaga uniformemente a las 10.000 dimensiones restantes en una pasada.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 Roofline en Cache: </a:t>
            </a:r>
            <a:r>
              <a:rPr sz="1100">
                <a:solidFill>
                  <a:srgbClr val="E2E8F0"/>
                </a:solidFill>
              </a:rPr>
              <a:t>Estructura coalescente que reside enteramente en L1/L2 cache (SRAM), alcanzando el techo de ancho de banda del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Consumo de VRAM Externa: </a:t>
            </a:r>
            <a:r>
              <a:rPr sz="1100">
                <a:solidFill>
                  <a:srgbClr val="E2E8F0"/>
                </a:solidFill>
              </a:rPr>
              <a:t>Evita accesos a memoria DRAM/HBM para operaciones de atención dispersa.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wht_cache_roo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5: Modelo Roofline de la FWHT en Jerarquía de Cache SRAM/L2.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Álgebra Geométrica de Clifford y Dualidad de Hodge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Representación multivectorial unificada y compatibilidad cuántica.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09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09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MULTIVECTORES EN CL(D)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Graduado: </a:t>
            </a:r>
            <a:r>
              <a:rPr sz="1100">
                <a:solidFill>
                  <a:srgbClr val="E2E8F0"/>
                </a:solidFill>
              </a:rPr>
              <a:t>Un elemento latente combina escalares (grado 0), vectores (grado 1), bivectores (grado 2) y pseudoescalares.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Producto Geométrico: </a:t>
            </a:r>
            <a:r>
              <a:rPr sz="1100">
                <a:solidFill>
                  <a:srgbClr val="E2E8F0"/>
                </a:solidFill>
              </a:rPr>
              <a:t>u v = u . v + u ^ v, codificando simultáneamente similitud escalar métrica y orientación del plano.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Rotaciones por Rotores: </a:t>
            </a:r>
            <a:r>
              <a:rPr sz="1100">
                <a:solidFill>
                  <a:srgbClr val="E2E8F0"/>
                </a:solidFill>
              </a:rPr>
              <a:t>Transformaciones espaciales continuas sin matrices: R z R~ donde R es un rotor unitario en Espin(D).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Invariancia Topológica: </a:t>
            </a:r>
            <a:r>
              <a:rPr sz="1100">
                <a:solidFill>
                  <a:srgbClr val="E2E8F0"/>
                </a:solidFill>
              </a:rPr>
              <a:t>Las interacciones lógicas se convierten en trenzados algebraicos estables.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ESTRELLA DE HODGE ★ Y PUENTES CUÁNTICOS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Dualidad de Hodge: </a:t>
            </a:r>
            <a:r>
              <a:rPr sz="1100">
                <a:solidFill>
                  <a:srgbClr val="E2E8F0"/>
                </a:solidFill>
              </a:rPr>
              <a:t>Mapea k-vectores a (D-k)-vectores: ★(u ^ v), permitiendo compresión ortogonal sin pérdida de orientación.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Conexión con Qubits: </a:t>
            </a:r>
            <a:r>
              <a:rPr sz="1100">
                <a:solidFill>
                  <a:srgbClr val="E2E8F0"/>
                </a:solidFill>
              </a:rPr>
              <a:t>El álgebra de Clifford Cl(2n) es canónicamente isomorfa al álgebra de matrices complejas de Pauli M_{2^n}(C).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Soberanía Hardware: </a:t>
            </a:r>
            <a:r>
              <a:rPr sz="1100">
                <a:solidFill>
                  <a:srgbClr val="E2E8F0"/>
                </a:solidFill>
              </a:rPr>
              <a:t>Ejecutable tanto en procesadores clásicos vectorizados como en simuladores cuánticos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Teoremas Registrados: </a:t>
            </a:r>
            <a:r>
              <a:rPr sz="1100">
                <a:solidFill>
                  <a:srgbClr val="E2E8F0"/>
                </a:solidFill>
              </a:rPr>
              <a:t>Axiomatizado formalmente en PostgreSQL 16 con verificación de cero contradicciones.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Comparativa Asintótica: Token-based Attention vs POLYDIM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Superando la barrera cuadrática O(N²) mediante transformaciones en S^(D-1).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10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COMPLEJIDAD ASINTÓTICA DE CÓMPUTO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Atención Clásica Transformer: </a:t>
            </a:r>
            <a:r>
              <a:rPr sz="1100">
                <a:solidFill>
                  <a:srgbClr val="E2E8F0"/>
                </a:solidFill>
              </a:rPr>
              <a:t>Requiere comparar cada token con todos los anteriores: Complejidad Temporal O(N² D) y Memoria O(N²).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Transformaciones POLYDIM: </a:t>
            </a:r>
            <a:r>
              <a:rPr sz="1100">
                <a:solidFill>
                  <a:srgbClr val="E2E8F0"/>
                </a:solidFill>
              </a:rPr>
              <a:t>La evolución temporal opera como una recurrencia lineal en el espacio de estados: Complejidad Temporal O(T * 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Constante: </a:t>
            </a:r>
            <a:r>
              <a:rPr sz="1100">
                <a:solidFill>
                  <a:srgbClr val="E2E8F0"/>
                </a:solidFill>
              </a:rPr>
              <a:t>Memoria física O(1) independientemente del horizonte de razonamiento (100k pasos en 94 MB de RAM).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Resultados Experimentales: </a:t>
            </a:r>
            <a:r>
              <a:rPr sz="1100">
                <a:solidFill>
                  <a:srgbClr val="E2E8F0"/>
                </a:solidFill>
              </a:rPr>
              <a:t>Aceleraciones de hasta 14x en latencia y 80% de reducción en energía para horizontes profundos.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lydim_vs_transformers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6: Benchmark Asintótico: POLYDIM vs Modelos Transformer Tradicionales.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Perfil Energético y Eficiencia Térmica del Cómputo No-Tokenizado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Menos Joules por inferencia: eliminando el trasvase masivo de memoria HBM.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11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ECONOMÍA TÉRMICA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Costo Energético del Acceso a VRAM: </a:t>
            </a:r>
            <a:r>
              <a:rPr sz="1100">
                <a:solidFill>
                  <a:srgbClr val="E2E8F0"/>
                </a:solidFill>
              </a:rPr>
              <a:t>Acceder a HBM/DRAM consume ~100x más energía por bit que una operación aritmética en SRAM.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Problema del KV-Cache: </a:t>
            </a:r>
            <a:r>
              <a:rPr sz="1100">
                <a:solidFill>
                  <a:srgbClr val="E2E8F0"/>
                </a:solidFill>
              </a:rPr>
              <a:t>Los transformers requieren leer gigabytes de KV-cache en cada token generado, sobrecalentando 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In-Register Processing: </a:t>
            </a:r>
            <a:r>
              <a:rPr sz="1100">
                <a:solidFill>
                  <a:srgbClr val="E2E8F0"/>
                </a:solidFill>
              </a:rPr>
              <a:t>POLYDIM mantiene el estado de trabajo z_t en los registros AVX/SRAM de la GPU/CPU durante miles de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Medición Física: </a:t>
            </a:r>
            <a:r>
              <a:rPr sz="1100">
                <a:solidFill>
                  <a:srgbClr val="E2E8F0"/>
                </a:solidFill>
              </a:rPr>
              <a:t>Reducción de consumo de 250W (GPU saturada en decodificación) a &lt; 45W en inferencia recurrente en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aph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7: Consumo Energético en Joules: Flujo de Tokens vs Cómputo PMTP.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I: FUNDAMENTOS ONTOLÓGICOS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Bóveda Teórica: 1.731 Teoremas Certificados en PostgreSQL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La base matemática formal inmutable que sustenta 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LA BÓVEDA POLYDIM_VEC_DB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Total de Teoremas: </a:t>
            </a:r>
            <a:r>
              <a:rPr sz="1100">
                <a:solidFill>
                  <a:srgbClr val="E2E8F0"/>
                </a:solidFill>
              </a:rPr>
              <a:t>1.731 teoremas registrados inmutablemente (MIN_ID: 1, MAX_ID: 1698), todos en estado SOTA_CERTIFIED.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Categorías Principales: </a:t>
            </a:r>
            <a:r>
              <a:rPr sz="1100">
                <a:solidFill>
                  <a:srgbClr val="E2E8F0"/>
                </a:solidFill>
              </a:rPr>
              <a:t>Geometría de Stiefel, Retracción de Cayley, Control de Lyapunov, Invarianza Criptográfica, Álgebra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Regla 0 y Regla 13: </a:t>
            </a:r>
            <a:r>
              <a:rPr sz="1100">
                <a:solidFill>
                  <a:srgbClr val="E2E8F0"/>
                </a:solidFill>
              </a:rPr>
              <a:t>PostgreSQL 16 como única fuente de verdad transaccional; prohibición total de SQLite activo.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Lean 4: </a:t>
            </a:r>
            <a:r>
              <a:rPr sz="1100">
                <a:solidFill>
                  <a:srgbClr val="E2E8F0"/>
                </a:solidFill>
              </a:rPr>
              <a:t>65 axiomas nucleares formalizados en Lean 4 Core con 0 'sorry' y verificación formal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ÚLTIMOS HITOS TEÓRICOS (T-MP28 A T-MP32)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T-MP28: </a:t>
            </a:r>
            <a:r>
              <a:rPr sz="1100">
                <a:solidFill>
                  <a:srgbClr val="E2E8F0"/>
                </a:solidFill>
              </a:rPr>
              <a:t>Compresión HiPPO-Cayley Bilineal con Estabilidad Asintótica ρ = 0.9950.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T-MP29: </a:t>
            </a:r>
            <a:r>
              <a:rPr sz="1100">
                <a:solidFill>
                  <a:srgbClr val="E2E8F0"/>
                </a:solidFill>
              </a:rPr>
              <a:t>Cota Superior Gromov-Wasserstein L2 (GW_L2 = 0.0227 rad &lt; 0.030) en Stiefel.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T-MP30: </a:t>
            </a:r>
            <a:r>
              <a:rPr sz="1100">
                <a:solidFill>
                  <a:srgbClr val="E2E8F0"/>
                </a:solidFill>
              </a:rPr>
              <a:t>Integración Simpléctica Verlet-Riemanniana con Retracción de Cayley.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T-MP31: </a:t>
            </a:r>
            <a:r>
              <a:rPr sz="1100">
                <a:solidFill>
                  <a:srgbClr val="E2E8F0"/>
                </a:solidFill>
              </a:rPr>
              <a:t>Invarianza de Entropía Espectral en Enjambre Tri-Stream sobre PMTP (S(G) &gt;= 0.9933).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T-MP32: </a:t>
            </a:r>
            <a:r>
              <a:rPr sz="1100">
                <a:solidFill>
                  <a:srgbClr val="E2E8F0"/>
                </a:solidFill>
              </a:rPr>
              <a:t>Certificación Asintótica en Silicio de 100.000 Pasos con Inmunidad Fuzzing IEEE-754.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Introducción a PMTP: Telepatía Tensorial Zero-Copy en Memoria Compartida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protocolo físico para intercambiar estados cognitivos sin serialización a texto.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13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¿QUÉ ES PMTP?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Físcia: </a:t>
            </a:r>
            <a:r>
              <a:rPr sz="1100">
                <a:solidFill>
                  <a:srgbClr val="E2E8F0"/>
                </a:solidFill>
              </a:rPr>
              <a:t>PMTP (Physical Memory Tensor Protocol) es un bus de memoria compartida binario de latencia ultrabaja.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Ghost Protocol (Regla 22): </a:t>
            </a:r>
            <a:r>
              <a:rPr sz="1100">
                <a:solidFill>
                  <a:srgbClr val="E2E8F0"/>
                </a:solidFill>
              </a:rPr>
              <a:t>Queda prohibido serializar tensores de D &gt;= 100 a JSON, Markdown o texto en el chat. Se intercambian punteros atómicos SLAB_ID.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Zero-Copy Real: </a:t>
            </a:r>
            <a:r>
              <a:rPr sz="1100">
                <a:solidFill>
                  <a:srgbClr val="E2E8F0"/>
                </a:solidFill>
              </a:rPr>
              <a:t>Los procesos lectores y escritores acceden a las mismas páginas físicas de RAM/VRAM sin copias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Multi-Lenguaje C-ABI: </a:t>
            </a:r>
            <a:r>
              <a:rPr sz="1100">
                <a:solidFill>
                  <a:srgbClr val="E2E8F0"/>
                </a:solidFill>
              </a:rPr>
              <a:t>Conexión transparente entre C++20, Rust 2024, Python 3.14, Dart FFI y CUDA.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CLAVE DE 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FFI de Silicio: </a:t>
            </a:r>
            <a:r>
              <a:rPr sz="1100">
                <a:solidFill>
                  <a:srgbClr val="E2E8F0"/>
                </a:solidFill>
              </a:rPr>
              <a:t>76.8 microsegundos por transferencia completa frente a 45 milisegundos de HTTP/JSON.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Operaciones: </a:t>
            </a:r>
            <a:r>
              <a:rPr sz="1100">
                <a:solidFill>
                  <a:srgbClr val="E2E8F0"/>
                </a:solidFill>
              </a:rPr>
              <a:t>15.485 operaciones/segundo en CPU local sin sobrecarga de kernel.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Tokens: </a:t>
            </a:r>
            <a:r>
              <a:rPr sz="1100">
                <a:solidFill>
                  <a:srgbClr val="E2E8F0"/>
                </a:solidFill>
              </a:rPr>
              <a:t>100.0% de ahorro de tokens durante las fases de razonamiento recurrente.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Pipeline Completado: </a:t>
            </a:r>
            <a:r>
              <a:rPr sz="1100">
                <a:solidFill>
                  <a:srgbClr val="E2E8F0"/>
                </a:solidFill>
              </a:rPr>
              <a:t>28 de 28 subfases de PMTP certificadas con Exit Code 0 en 'polydim_vec_db.pmtp_pipeline'.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Arquitectura PMTP ShmBus: Win32 FileMapping &amp; Linux /dev/shm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Mecanismos de silicio para asignación y mapeo de slabs de memoria en memoria física.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14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MAPEO FÍSICO DE MEMORIA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Host Windows AGY: </a:t>
            </a:r>
            <a:r>
              <a:rPr sz="1100">
                <a:solidFill>
                  <a:srgbClr val="E2E8F0"/>
                </a:solidFill>
              </a:rPr>
              <a:t>Implementado vía Win32 Native IPC usando CreateFileMappingW y MapViewOfFile con seguridad DACL.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Nodo ALADIN Linux: </a:t>
            </a:r>
            <a:r>
              <a:rPr sz="1100">
                <a:solidFill>
                  <a:srgbClr val="E2E8F0"/>
                </a:solidFill>
              </a:rPr>
              <a:t>Implementado sobre tmpfs nativo (/dev/shm) mediante shm_open, ftruncate y mmap POSIX.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Gestor PmtpSlabAllocator: </a:t>
            </a:r>
            <a:r>
              <a:rPr sz="1100">
                <a:solidFill>
                  <a:srgbClr val="E2E8F0"/>
                </a:solidFill>
              </a:rPr>
              <a:t>Asigna bloques contiguos de memoria con alineación forzada a 64 bytes para instrucciones SIMD AVX-512.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Anti-Crash: </a:t>
            </a:r>
            <a:r>
              <a:rPr sz="1100">
                <a:solidFill>
                  <a:srgbClr val="E2E8F0"/>
                </a:solidFill>
              </a:rPr>
              <a:t>Gestión de señales SIGSEGV/SEH y limpieza atómica de slabs huérfanos al terminar 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mtp_zerocop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8: Arquitectura de Memoria Compartida Zero-Copy PMTP ShmBus.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Estructura del Descriptor Wire PMTP (64 Bytes)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contrato binario inmutable que encabeza cada tensor transmitido.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15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LAYOUT DE CABECERA (STRUCT C-ABI)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Magic (4B): </a:t>
            </a:r>
            <a:r>
              <a:rPr sz="1100">
                <a:solidFill>
                  <a:srgbClr val="E2E8F0"/>
                </a:solidFill>
              </a:rPr>
              <a:t>0x504D5450 (ASCII 'PMTP') para validación estricta de protocolo.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Version (2B) &amp; Flags (2B): </a:t>
            </a:r>
            <a:r>
              <a:rPr sz="1100">
                <a:solidFill>
                  <a:srgbClr val="E2E8F0"/>
                </a:solidFill>
              </a:rPr>
              <a:t>Versión 4.0; flags de encriptación, compresión y estado.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Epoch Timestamp (8B): </a:t>
            </a:r>
            <a:r>
              <a:rPr sz="1100">
                <a:solidFill>
                  <a:srgbClr val="E2E8F0"/>
                </a:solidFill>
              </a:rPr>
              <a:t>Marca temporal de 64 bits para control de latencia y prevención de repetición (anti-replay).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Node ID, PID, Domain (12B): </a:t>
            </a:r>
            <a:r>
              <a:rPr sz="1100">
                <a:solidFill>
                  <a:srgbClr val="E2E8F0"/>
                </a:solidFill>
              </a:rPr>
              <a:t>Identificación unívoca del nodo emisor (AGY vs ALADIN) y dominio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Dimension D (8B) &amp; DType (4B): </a:t>
            </a:r>
            <a:r>
              <a:rPr sz="1100">
                <a:solidFill>
                  <a:srgbClr val="E2E8F0"/>
                </a:solidFill>
              </a:rPr>
              <a:t>Dimensión del vector (ej. 1.024 o 10.000) y tipo IEEE-754 (FP64 / FP32 / BF16).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SlabID (64B): </a:t>
            </a:r>
            <a:r>
              <a:rPr sz="1100">
                <a:solidFill>
                  <a:srgbClr val="E2E8F0"/>
                </a:solidFill>
              </a:rPr>
              <a:t>String ASCII/UTF-8 terminado en null con el identificador del slab compartido.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GARANTÍAS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Tamaño Fijo: </a:t>
            </a:r>
            <a:r>
              <a:rPr sz="1100">
                <a:solidFill>
                  <a:srgbClr val="E2E8F0"/>
                </a:solidFill>
              </a:rPr>
              <a:t>Exactamente 64 bytes (alineado a dos líneas de cache L1 de 64B).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Zero-Parsing Overhead: </a:t>
            </a:r>
            <a:r>
              <a:rPr sz="1100">
                <a:solidFill>
                  <a:srgbClr val="E2E8F0"/>
                </a:solidFill>
              </a:rPr>
              <a:t>Los receptores decodifican la cabecera en un solo ciclo mediante struct cast o struct.unpack('&lt;IHHQ4IQIIQQ64s').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Bitwise Determinism: </a:t>
            </a:r>
            <a:r>
              <a:rPr sz="1100">
                <a:solidFill>
                  <a:srgbClr val="E2E8F0"/>
                </a:solidFill>
              </a:rPr>
              <a:t>Idéntico empaquetamiento en compiladores GCC 14.2 (MinGW), Rustc 1.100 y Python 3.14.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Integridad: </a:t>
            </a:r>
            <a:r>
              <a:rPr sz="1100">
                <a:solidFill>
                  <a:srgbClr val="E2E8F0"/>
                </a:solidFill>
              </a:rPr>
              <a:t>Enmienda E24-1 aprobada: invarianza criptográfica y consistencia de tipos garantizada.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Semántica Concurrente Release-Acquire: Cero Torn-Reads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Máquina de estados cuádruple libre de bloqueos pesados (Lock-Free).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MÁQUINA DE ESTADOS DE 4 FASES (T-MP12)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0: IDLE: </a:t>
            </a:r>
            <a:r>
              <a:rPr sz="1100">
                <a:solidFill>
                  <a:srgbClr val="E2E8F0"/>
                </a:solidFill>
              </a:rPr>
              <a:t>El slab está libre y disponible para asignación por un escritor.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1: WRITING: </a:t>
            </a:r>
            <a:r>
              <a:rPr sz="1100">
                <a:solidFill>
                  <a:srgbClr val="E2E8F0"/>
                </a:solidFill>
              </a:rPr>
              <a:t>El escritor posee el slab; los lectores tienen acceso prohibido.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2: COMMITTED: </a:t>
            </a:r>
            <a:r>
              <a:rPr sz="1100">
                <a:solidFill>
                  <a:srgbClr val="E2E8F0"/>
                </a:solidFill>
              </a:rPr>
              <a:t>Escritura completada; barrera de memoria 'std::atomic_thread_fence(memory_order_release)' emitida.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3: READING: </a:t>
            </a:r>
            <a:r>
              <a:rPr sz="1100">
                <a:solidFill>
                  <a:srgbClr val="E2E8F0"/>
                </a:solidFill>
              </a:rPr>
              <a:t>Múltiples lectores acceden simultáneamente bajo orden 'memory_order_acquire'.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 Locks: </a:t>
            </a:r>
            <a:r>
              <a:rPr sz="1100">
                <a:solidFill>
                  <a:srgbClr val="E2E8F0"/>
                </a:solidFill>
              </a:rPr>
              <a:t>Reemplazo de Mutexes lentos de sistema operativo por operaciones atómicas at-silicon CAS (Compare-And-Swap).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 ADVERSARIAL FUZZING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 de Estrés Concurrente: </a:t>
            </a:r>
            <a:r>
              <a:rPr sz="1100">
                <a:solidFill>
                  <a:srgbClr val="E2E8F0"/>
                </a:solidFill>
              </a:rPr>
              <a:t>10 hilos lectores concurrentes leyendo mientras 1 escritor inyecta 100.000 actualizaciones.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Lecturas Parciales (Torn-Reads): </a:t>
            </a:r>
            <a:r>
              <a:rPr sz="1100">
                <a:solidFill>
                  <a:srgbClr val="E2E8F0"/>
                </a:solidFill>
              </a:rPr>
              <a:t>0 lecturas inconsistentes detectadas tras 1.000.000 de comprobaciones continuas.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Condición de Carrera: </a:t>
            </a:r>
            <a:r>
              <a:rPr sz="1100">
                <a:solidFill>
                  <a:srgbClr val="E2E8F0"/>
                </a:solidFill>
              </a:rPr>
              <a:t>Cero deadlocks o livelocks registrados en la suite 'test_pmtp_adversarial_fuzzing.py'.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Exit Code 0: </a:t>
            </a:r>
            <a:r>
              <a:rPr sz="1100">
                <a:solidFill>
                  <a:srgbClr val="E2E8F0"/>
                </a:solidFill>
              </a:rPr>
              <a:t>Certificación formal registrada en BBDD bajo el teorema T-MP12.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Protocolo de Doble Buffer Inmutable: Conmutación Atómica de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Garantizando lectura continua sin congelar el bucle de razonamiento del escritor.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17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 PING-PONG DE GENERACIÓN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de Doble Ranura: </a:t>
            </a:r>
            <a:r>
              <a:rPr sz="1100">
                <a:solidFill>
                  <a:srgbClr val="E2E8F0"/>
                </a:solidFill>
              </a:rPr>
              <a:t>Cada slab contiene Slot 0 y Slot 1 independientes en memoria contigua.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 de Generación: </a:t>
            </a:r>
            <a:r>
              <a:rPr sz="1100">
                <a:solidFill>
                  <a:srgbClr val="E2E8F0"/>
                </a:solidFill>
              </a:rPr>
              <a:t>Un índice atómico uint32 'active_slot' señala el estado más reciente consolidado.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Escritura en Sombra: </a:t>
            </a:r>
            <a:r>
              <a:rPr sz="1100">
                <a:solidFill>
                  <a:srgbClr val="E2E8F0"/>
                </a:solidFill>
              </a:rPr>
              <a:t>El núcleo cognitivo computa el nuevo estado z_{t+1} en la ranura inactiva sin interferir con los lectores.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Conmutación Atómica: </a:t>
            </a:r>
            <a:r>
              <a:rPr sz="1100">
                <a:solidFill>
                  <a:srgbClr val="E2E8F0"/>
                </a:solidFill>
              </a:rPr>
              <a:t>Al finalizar, conmuta el índice de slot en una sola instrucción atómica (Exchange), haciendo visible el nuevo estado instantáneamente.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VENTAJAS ARQUITECTÓNICAS (T-MP15)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Cero de Espera: </a:t>
            </a:r>
            <a:r>
              <a:rPr sz="1100">
                <a:solidFill>
                  <a:srgbClr val="E2E8F0"/>
                </a:solidFill>
              </a:rPr>
              <a:t>Los lectores nunca bloquean al escritor; el escritor nunca frena la inferencia.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Snap-Shot: </a:t>
            </a:r>
            <a:r>
              <a:rPr sz="1100">
                <a:solidFill>
                  <a:srgbClr val="E2E8F0"/>
                </a:solidFill>
              </a:rPr>
              <a:t>Un lector que inicia la lectura de Slot 0 tiene garantizada la inmutabilidad de los datos hasta liberar su lease.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de Silicio: </a:t>
            </a:r>
            <a:r>
              <a:rPr sz="1100">
                <a:solidFill>
                  <a:srgbClr val="E2E8F0"/>
                </a:solidFill>
              </a:rPr>
              <a:t>Validado en 'test_cycle6_counterexamples.py' con Exit Code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Uso en MORPHO: </a:t>
            </a:r>
            <a:r>
              <a:rPr sz="1100">
                <a:solidFill>
                  <a:srgbClr val="E2E8F0"/>
                </a:solidFill>
              </a:rPr>
              <a:t>Base fundamental para que el núcleo recurrente ejecute 100k pasos a máxima velocidad.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Leases de Lectura en Cabecera: Protección Inmunológica Anti-ABA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Prevención rigurosa de sobreescrituras mientras existen lectores activos reteniendo memoria.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18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PROBLEMA ABA EN MEMORIA COMPARTIDA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del Riesgo: </a:t>
            </a:r>
            <a:r>
              <a:rPr sz="1100">
                <a:solidFill>
                  <a:srgbClr val="E2E8F0"/>
                </a:solidFill>
              </a:rPr>
              <a:t>Un lector lento accede al buffer A; el escritor conmuta a B y luego vuelve a sobreescribir A creyendo que está libre.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Corrupción Catastrófica: </a:t>
            </a:r>
            <a:r>
              <a:rPr sz="1100">
                <a:solidFill>
                  <a:srgbClr val="E2E8F0"/>
                </a:solidFill>
              </a:rPr>
              <a:t>El lector procesa un tensor híbrido corrupto (mitad viejo, mitad nuevo), arruinando la inferencia neuronal.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Contador Atómico de Leases: </a:t>
            </a:r>
            <a:r>
              <a:rPr sz="1100">
                <a:solidFill>
                  <a:srgbClr val="E2E8F0"/>
                </a:solidFill>
              </a:rPr>
              <a:t>La cabecera de 64B contiene un uint32 'reader_count' incrementado atómicamente por cada lector al entrar.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RESOLUCIÓN TEOREMA T-MP17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Rechazo de Sobrescritura: </a:t>
            </a:r>
            <a:r>
              <a:rPr sz="1100">
                <a:solidFill>
                  <a:srgbClr val="E2E8F0"/>
                </a:solidFill>
              </a:rPr>
              <a:t>Si 'reader_count &gt; 0', el escritor rechaza escribir en esa ranura y conmuta o espera activamente.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Timeout de Seguridad: </a:t>
            </a:r>
            <a:r>
              <a:rPr sz="1100">
                <a:solidFill>
                  <a:srgbClr val="E2E8F0"/>
                </a:solidFill>
              </a:rPr>
              <a:t>Si un lector falla o muere, un temporizador de arriendo (lease timeout) libera el contador tras 100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Empírica: </a:t>
            </a:r>
            <a:r>
              <a:rPr sz="1100">
                <a:solidFill>
                  <a:srgbClr val="E2E8F0"/>
                </a:solidFill>
              </a:rPr>
              <a:t>Superó 50.000 simulaciones de inanición intencional en silicio sin un solo fallo de memoria.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Invarianza Criptográfica: Firmas HMAC-BLAKE2b y Control Anti-Replay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Seguridad de nivel militar en enlaces de memoria compartida y sockets TCP inter-nodo.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19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19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FIRMA DE HARDWARE BLAKE2B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Digest Criptográfico 32B: </a:t>
            </a:r>
            <a:r>
              <a:rPr sz="1100">
                <a:solidFill>
                  <a:srgbClr val="E2E8F0"/>
                </a:solidFill>
              </a:rPr>
              <a:t>Cada transmisión tensorial calcula un HMAC BLAKE2b sobre los primeros 80 bytes de la cabecera + payload.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Velocidad Extrema: </a:t>
            </a:r>
            <a:r>
              <a:rPr sz="1100">
                <a:solidFill>
                  <a:srgbClr val="E2E8F0"/>
                </a:solidFill>
              </a:rPr>
              <a:t>BLAKE2b procesa &gt; 1 GB/s por núcleo en CPU, superando ampliamente a SHA-256 y MD5.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Clave Compartida Precalibrada: </a:t>
            </a:r>
            <a:r>
              <a:rPr sz="1100">
                <a:solidFill>
                  <a:srgbClr val="E2E8F0"/>
                </a:solidFill>
              </a:rPr>
              <a:t>Autenticación mutua entre el Host Windows AGY y el Nodo ALADIN Linux.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Integridad a Nivel de Bit: </a:t>
            </a:r>
            <a:r>
              <a:rPr sz="1100">
                <a:solidFill>
                  <a:srgbClr val="E2E8F0"/>
                </a:solidFill>
              </a:rPr>
              <a:t>Cualquier corrupción de hardware por radiación o bit-flip es descartada de inmediato antes del cómputo.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PROTECCIÓN ANTI-REPLAY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Ventana Temporal Deslizante: </a:t>
            </a:r>
            <a:r>
              <a:rPr sz="1100">
                <a:solidFill>
                  <a:srgbClr val="E2E8F0"/>
                </a:solidFill>
              </a:rPr>
              <a:t>Se rechazan paquetes cuyo timestamp 'epoch' difiera en más de 2.0 segundos respecto al reloj del nodo.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Nonce Creciente Monótono: </a:t>
            </a:r>
            <a:r>
              <a:rPr sz="1100">
                <a:solidFill>
                  <a:srgbClr val="E2E8F0"/>
                </a:solidFill>
              </a:rPr>
              <a:t>Previene que un atacante o hilo desincronizado reinyecte activaciones latentes pasadas.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Implementación en Silicio: </a:t>
            </a:r>
            <a:r>
              <a:rPr sz="1100">
                <a:solidFill>
                  <a:srgbClr val="E2E8F0"/>
                </a:solidFill>
              </a:rPr>
              <a:t>Módulo 'pmtp_crypto_wire.py' desplegado tanto en Windows como en '/usr/local/lib/pmtp' en Debian 13.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El Contrato de Silicio y Agnosticismo de Hardware (Regla 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software no asume silicio: interroga dinámicamente y se despacha a la jerarquía óptima.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20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JERARQUÍA DE CLASES DE MEMORIA EN PMTP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0 (Wafer SRAM / On-Chip): </a:t>
            </a:r>
            <a:r>
              <a:rPr sz="1100">
                <a:solidFill>
                  <a:srgbClr val="E2E8F0"/>
                </a:solidFill>
              </a:rPr>
              <a:t>Cerebras CS-3 / Tenstorrent SRAM. Ancho de banda de petabytes/s. Máxima prioridad para el núcleo de 100k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1 (HBM3 / HBM2e): </a:t>
            </a:r>
            <a:r>
              <a:rPr sz="1100">
                <a:solidFill>
                  <a:srgbClr val="E2E8F0"/>
                </a:solidFill>
              </a:rPr>
              <a:t>NVIDIA H100 / A100 / Google Cloud TPU v5e. Despacho directo vía Triton coalescente y CUDA IPC handles de 128B.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2 (GDDR6 / GDDR7): </a:t>
            </a:r>
            <a:r>
              <a:rPr sz="1100">
                <a:solidFill>
                  <a:srgbClr val="E2E8F0"/>
                </a:solidFill>
              </a:rPr>
              <a:t>GPUs locales NVIDIA GeForce / RTX. Comunicación vía persistent kernels SM70-SM90.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3 (DDR5 / DDR4 NUMA): </a:t>
            </a:r>
            <a:r>
              <a:rPr sz="1100">
                <a:solidFill>
                  <a:srgbClr val="E2E8F0"/>
                </a:solidFill>
              </a:rPr>
              <a:t>RAM del sistema Host Windows AGY (AVX2/AVX-512) y Nodo ALADIN (Core i3-8100 8GB DDR4).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Clase 4 (DDR3 Legacy / AMD A4 Floor): </a:t>
            </a:r>
            <a:r>
              <a:rPr sz="1100">
                <a:solidFill>
                  <a:srgbClr val="E2E8F0"/>
                </a:solidFill>
              </a:rPr>
              <a:t>Piso mínimo garantizado para entornos de bajo costo y compatibilidad total en laboratorios de grado EinsofOS.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Latencia FFI de Silicio: 76.8 µs vs Milisegundos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puente directo entre compilados nativos y entornos de ejecución de alto nivel.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21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DEMOLICIÓN DE LA SOBRECARGA IPC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Abismo Tradicional: </a:t>
            </a:r>
            <a:r>
              <a:rPr sz="1100">
                <a:solidFill>
                  <a:srgbClr val="E2E8F0"/>
                </a:solidFill>
              </a:rPr>
              <a:t>APIs REST, WebSockets y gRPC imponen serialización JSON/Protobuf, TCP stack y context switches del SO (10 a 50 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Salto PMTP FFI: </a:t>
            </a:r>
            <a:r>
              <a:rPr sz="1100">
                <a:solidFill>
                  <a:srgbClr val="E2E8F0"/>
                </a:solidFill>
              </a:rPr>
              <a:t>C-ABI directo mediante punteros en memoria compartida: 76.8 microsegundos medidos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Rendimiento: </a:t>
            </a:r>
            <a:r>
              <a:rPr sz="1100">
                <a:solidFill>
                  <a:srgbClr val="E2E8F0"/>
                </a:solidFill>
              </a:rPr>
              <a:t>Capacidad de procesar más de 13.000 transferencias tensoriales por segundo por hilo.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Impacto en Razonamiento: </a:t>
            </a:r>
            <a:r>
              <a:rPr sz="1100">
                <a:solidFill>
                  <a:srgbClr val="E2E8F0"/>
                </a:solidFill>
              </a:rPr>
              <a:t>Permite que agentes colaboren cientos de veces en el tiempo que una API remota respondería una sola llamada.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rt_ffi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9: Comparativa de Latencia FFI PMTP frente a Transmisiones Tradicionales.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Kernel C++20 Nativo: Vectorización AVX2/AVX-512 y Neumaier SIMD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motor de ultra-bajo nivel compilado en Windows Host.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CARACTERÍSTICAS DEL KERNEL C++20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Compilador: </a:t>
            </a:r>
            <a:r>
              <a:rPr sz="1100">
                <a:solidFill>
                  <a:srgbClr val="E2E8F0"/>
                </a:solidFill>
              </a:rPr>
              <a:t>WinLibs GCC 14.2.0 (POSIX threads, x86_64, C++20 estándar sin extensiones propietarias).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Optimizaciones de Compilación: </a:t>
            </a:r>
            <a:r>
              <a:rPr sz="1100">
                <a:solidFill>
                  <a:srgbClr val="E2E8F0"/>
                </a:solidFill>
              </a:rPr>
              <a:t>Flags: -O3 -mavx2 -mfma -ffast-math -fopenmp -shared.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Neumaier SIMD Intrinsics: </a:t>
            </a:r>
            <a:r>
              <a:rPr sz="1100">
                <a:solidFill>
                  <a:srgbClr val="E2E8F0"/>
                </a:solidFill>
              </a:rPr>
              <a:t>Implementación manual con _mm256_fmadd_pd y corrección de redondeo vectorizada.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Biblioteca Dinámica: </a:t>
            </a:r>
            <a:r>
              <a:rPr sz="1100">
                <a:solidFill>
                  <a:srgbClr val="E2E8F0"/>
                </a:solidFill>
              </a:rPr>
              <a:t>libpolydim_cpp_v26300.dll exportando interfaz C pura ('extern "C"') para Dart y Python.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PRUEBAS FÍSICAS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Suite de Silicio: </a:t>
            </a:r>
            <a:r>
              <a:rPr sz="1100">
                <a:solidFill>
                  <a:srgbClr val="E2E8F0"/>
                </a:solidFill>
              </a:rPr>
              <a:t>test_silicon_v26300.py ejecutado con Exit Code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Total de Prueba: </a:t>
            </a:r>
            <a:r>
              <a:rPr sz="1100">
                <a:solidFill>
                  <a:srgbClr val="E2E8F0"/>
                </a:solidFill>
              </a:rPr>
              <a:t>3.47 segundos para 100.000 operaciones matemáticas complejas.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Uso de Memoria: </a:t>
            </a:r>
            <a:r>
              <a:rPr sz="1100">
                <a:solidFill>
                  <a:srgbClr val="E2E8F0"/>
                </a:solidFill>
              </a:rPr>
              <a:t>94 MB de RAM física constante; cero memory leaks.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Firewall de Memoria: </a:t>
            </a:r>
            <a:r>
              <a:rPr sz="1100">
                <a:solidFill>
                  <a:srgbClr val="E2E8F0"/>
                </a:solidFill>
              </a:rPr>
              <a:t>Captura controlada de vectores nulos, flotantes subnormales y NaNs.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Kernel Rust 2024: Safe SIMD y Aislamiento de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Garantías matemáticas de corrección en silicio y cero comportamiento indefinido (UB).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23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RUST SAFE SIMD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Edición Rust: </a:t>
            </a:r>
            <a:r>
              <a:rPr sz="1100">
                <a:solidFill>
                  <a:srgbClr val="E2E8F0"/>
                </a:solidFill>
              </a:rPr>
              <a:t>Rust 1.100 Edition 2024 compilado con rustc a nivel de biblioteca dinámica nativa.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Borrow Checker en FFI: </a:t>
            </a:r>
            <a:r>
              <a:rPr sz="1100">
                <a:solidFill>
                  <a:srgbClr val="E2E8F0"/>
                </a:solidFill>
              </a:rPr>
              <a:t>Envolturas seguras 'ManifoldSlice' que previenen aliasing de punteros entre procesos concurrentes.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Safe SIMD Abstraction: </a:t>
            </a:r>
            <a:r>
              <a:rPr sz="1100">
                <a:solidFill>
                  <a:srgbClr val="E2E8F0"/>
                </a:solidFill>
              </a:rPr>
              <a:t>Vectorización automática portátil sobre arquitecturas x86_64 y AArch64 (ARM).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Biblioteca Generada: </a:t>
            </a:r>
            <a:r>
              <a:rPr sz="1100">
                <a:solidFill>
                  <a:srgbClr val="E2E8F0"/>
                </a:solidFill>
              </a:rPr>
              <a:t>libpolydim_rust_v26300.dll con símbolos C-ABI idénticos a la versión C++.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DEFENSA EN 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Subnormal: </a:t>
            </a:r>
            <a:r>
              <a:rPr sz="1100">
                <a:solidFill>
                  <a:srgbClr val="E2E8F0"/>
                </a:solidFill>
              </a:rPr>
              <a:t>Filtro activo contra flotantes subnormales (10^-315) para evitar parálisis de pipeline en la FPU.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Inmunidad a Buffer Overflow: </a:t>
            </a:r>
            <a:r>
              <a:rPr sz="1100">
                <a:solidFill>
                  <a:srgbClr val="E2E8F0"/>
                </a:solidFill>
              </a:rPr>
              <a:t>Verificación estricta de límites (bounds checking) en la cabecera del descriptor PMTP.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Intercambiabilidad Total: </a:t>
            </a:r>
            <a:r>
              <a:rPr sz="1100">
                <a:solidFill>
                  <a:srgbClr val="E2E8F0"/>
                </a:solidFill>
              </a:rPr>
              <a:t>El usuario puede alternar dinámicamente entre el kernel C++ y Rust sin recompilar Dart.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Integración GPU Triton: Persistent Grids y SRAM Tiling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Optimizaciones coalescentes para arquitecturas NVIDIA Volta a Hopper.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24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TRITON TILING EN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SRAM Tiling Coalescente: </a:t>
            </a:r>
            <a:r>
              <a:rPr sz="1100">
                <a:solidFill>
                  <a:srgbClr val="E2E8F0"/>
                </a:solidFill>
              </a:rPr>
              <a:t>Bloques de 128x128 elementos cargados directamente a la memoria compartida SMEM de la GPU.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Persistent Kernels SM90: </a:t>
            </a:r>
            <a:r>
              <a:rPr sz="1100">
                <a:solidFill>
                  <a:srgbClr val="E2E8F0"/>
                </a:solidFill>
              </a:rPr>
              <a:t>Hilos de GPU que permanecen vivos en los Streaming Multiprocessors, evitando el costo de lanzamiento de kernels.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CUDA IPC Handles: </a:t>
            </a:r>
            <a:r>
              <a:rPr sz="1100">
                <a:solidFill>
                  <a:srgbClr val="E2E8F0"/>
                </a:solidFill>
              </a:rPr>
              <a:t>Descriptores de 64 bytes que permiten compartir punteros VRAM directos entre procesos Python locales sin pasar por el host.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Intensidad Aritmética: </a:t>
            </a:r>
            <a:r>
              <a:rPr sz="1100">
                <a:solidFill>
                  <a:srgbClr val="E2E8F0"/>
                </a:solidFill>
              </a:rPr>
              <a:t>Maximiza el aprovechamiento de los Tensor Cores en operaciones de proyección de Stiefel.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07_arithmetic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10: Intensidad Aritmética de Kernels GPU Triton vs Memoria Coalescente.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BLOQUE II: FASE 2 — ARQUITECTURA PMTP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Clúster Dual Distribuido: Host AGY y Nodo ALADIN (Debian 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Topología física de cómputo: Windows Host y Servidor Linux en 192.168.100.21.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25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NODO 1: HOST WINDOWS AGY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Hardware: </a:t>
            </a:r>
            <a:r>
              <a:rPr sz="1100">
                <a:solidFill>
                  <a:srgbClr val="E2E8F0"/>
                </a:solidFill>
              </a:rPr>
              <a:t>Estación de trabajo local con CPU multithreaded AVX2, PostgreSQL 16 local y Dart Flutter UI.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Operativo: </a:t>
            </a:r>
            <a:r>
              <a:rPr sz="1100">
                <a:solidFill>
                  <a:srgbClr val="E2E8F0"/>
                </a:solidFill>
              </a:rPr>
              <a:t>Orquestador principal, compilación nativa en GCC 14 / Rust y control de interfaz gráfica.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PMTP ShmBus: </a:t>
            </a:r>
            <a:r>
              <a:rPr sz="1100">
                <a:solidFill>
                  <a:srgbClr val="E2E8F0"/>
                </a:solidFill>
              </a:rPr>
              <a:t>FileMapping en RAM física local con latencia de 76.8 µs.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NODO 2: NODO ALADIN (192.168.100.21)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Hardware: </a:t>
            </a:r>
            <a:r>
              <a:rPr sz="1100">
                <a:solidFill>
                  <a:srgbClr val="E2E8F0"/>
                </a:solidFill>
              </a:rPr>
              <a:t>Intel Core i3-8100 4C/4T @ 3.6GHz, 8GB DDR4, Debian 13 Headless.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Servicios Activos: </a:t>
            </a:r>
            <a:r>
              <a:rPr sz="1100">
                <a:solidFill>
                  <a:srgbClr val="E2E8F0"/>
                </a:solidFill>
              </a:rPr>
              <a:t>Daemon de silicio 'aladin-pmtp.service' en puerto 9999 y Ollama en puerto 11434.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Modelos Locales: </a:t>
            </a:r>
            <a:r>
              <a:rPr sz="1100">
                <a:solidFill>
                  <a:srgbClr val="E2E8F0"/>
                </a:solidFill>
              </a:rPr>
              <a:t>qwen2.5-coder:1.5b y deepseek-r1:1.5b cargados para razonamiento abierto y auditoría.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Telepatía Socket: </a:t>
            </a:r>
            <a:r>
              <a:rPr sz="1100">
                <a:solidFill>
                  <a:srgbClr val="E2E8F0"/>
                </a:solidFill>
              </a:rPr>
              <a:t>Transmisión binaria pura IEEE-754 con firma BLAKE2b (Roundtrip 62.8 ms, error de norma 0.000e+00).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Introducción a MORPHO PELEIDES: Latent Cognitive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Construyendo la posibilidad del razonamiento iterativo profundo sin emisión lingüística.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CAMBIO DE CRITERIO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 la Imposibilidad a la Posibilidad: </a:t>
            </a:r>
            <a:r>
              <a:rPr sz="1100">
                <a:solidFill>
                  <a:srgbClr val="E2E8F0"/>
                </a:solidFill>
              </a:rPr>
              <a:t>No existe ley matemática o física que impida a una red realizar 100.000 operaciones cognitivas en estados continuos.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Los 3 Objetivos de MORPHO: </a:t>
            </a:r>
            <a:r>
              <a:rPr sz="1100">
                <a:solidFill>
                  <a:srgbClr val="E2E8F0"/>
                </a:solidFill>
              </a:rPr>
              <a:t>1. Miles de operaciones internas continuas sin tokens 1D.
2. Cooperación multi-modelo intercambiando estados latentes.
3. Razonamiento profundo más eficiente y escalable.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Eslabón Faltante: </a:t>
            </a:r>
            <a:r>
              <a:rPr sz="1100">
                <a:solidFill>
                  <a:srgbClr val="E2E8F0"/>
                </a:solidFill>
              </a:rPr>
              <a:t>MORPHO no busca inventar el aprendizaje profundo desde cero; diseña la arquitectura geométrica de control, estabilidad y memoria.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PILARES ARQUITECTÓNICOS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Semántico POLYDIM: </a:t>
            </a:r>
            <a:r>
              <a:rPr sz="1100">
                <a:solidFill>
                  <a:srgbClr val="E2E8F0"/>
                </a:solidFill>
              </a:rPr>
              <a:t>Alineación de Stiefel St(d, r) y proyecciones canónicas.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Recurrente de Enjambre: </a:t>
            </a:r>
            <a:r>
              <a:rPr sz="1100">
                <a:solidFill>
                  <a:srgbClr val="E2E8F0"/>
                </a:solidFill>
              </a:rPr>
              <a:t>Evolución sobre variedad canónica d_core = 1024.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Memoria Continua CAM-HiPPO: </a:t>
            </a:r>
            <a:r>
              <a:rPr sz="1100">
                <a:solidFill>
                  <a:srgbClr val="E2E8F0"/>
                </a:solidFill>
              </a:rPr>
              <a:t>Desacople de memoria asociativa exacta y memoria temporal de largo aliento.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Colapso a lenguaje natural o código exclusivamente al finalizar la tarea.</a:t>
            </a:r>
          </a:p>
        </p:txBody>
      </p:sp>
      <p:pic>
        <p:nvPicPr>
          <p:cNvPr id="2026" name="Morpho Emblem 26" descr="MORPHO PELEIDES Emblem"/>
          <p:cNvPicPr>
            <a:picLocks noChangeAspect="1"/>
          </p:cNvPicPr>
          <p:nvPr/>
        </p:nvPicPr>
        <p:blipFill>
          <a:blip r:embed="rIdMorpho26"/>
          <a:stretch>
            <a:fillRect/>
          </a:stretch>
        </p:blipFill>
        <p:spPr>
          <a:xfrm>
            <a:off x="7200000" y="1600000"/>
            <a:ext cx="4400000" cy="420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Demostración Constructiva: 100.000 Transiciones de Estado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Prueba analítica de la computabilidad no lingüística prolongada.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27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CONSTRUCCIÓN MATEMÁTICA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Estado: </a:t>
            </a:r>
            <a:r>
              <a:rPr sz="1100">
                <a:solidFill>
                  <a:srgbClr val="E2E8F0"/>
                </a:solidFill>
              </a:rPr>
              <a:t>Definimos s_t = (h_t, m_t, c_t) en espacio euclídeo/hiperesférico continuo.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Transición Recurrente: </a:t>
            </a:r>
            <a:r>
              <a:rPr sz="1100">
                <a:solidFill>
                  <a:srgbClr val="E2E8F0"/>
                </a:solidFill>
              </a:rPr>
              <a:t>s_{t+1} = F(s_t, u), ejecutando s_{100000} = F^{100000}(s_0, u).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y = G(s_{100000}). Durante las 100.000 transiciones intermedias no se emite ni un solo token.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de Siegelmann-Sontag (1995): </a:t>
            </a:r>
            <a:r>
              <a:rPr sz="1100">
                <a:solidFill>
                  <a:srgbClr val="E2E8F0"/>
                </a:solidFill>
              </a:rPr>
              <a:t>Las RNN continuas simulan máquinas de Turing universales. El razonamiento textual intermedio NO es una necesidad computacional universal.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pleiades_100k_lyapunov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11: Convergencia de Lyapunov y Defecto de Norma en 100.000 Pasos.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Evidencia Experimental SOTA: Cooperación Latente Publicada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Precedentes académicos directos en ICML 2025, ICML 2026 y ACL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28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PRECEDENTES INTERNACIONALES DE VANGUARDIA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LatentMAS (ICML 2026): </a:t>
            </a:r>
            <a:r>
              <a:rPr sz="1100">
                <a:solidFill>
                  <a:srgbClr val="E2E8F0"/>
                </a:solidFill>
              </a:rPr>
              <a:t>Sistema multiagente con memoria latente compartida: 14.6% mayor exactitud, 70.8–83.7% menos tokens de salida y aceleraciones de 4x a 4.3x frente a mensajes de texto.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Communicating Activations Between LM Agents (ICML 2025, Ramesh et al.): </a:t>
            </a:r>
            <a:r>
              <a:rPr sz="1100">
                <a:solidFill>
                  <a:srgbClr val="E2E8F0"/>
                </a:solidFill>
              </a:rPr>
              <a:t>Intercambio directo de activaciones interviniendo capas internas del modelo receptor: mejoras de hasta 27% frente a comunicación textual.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Interlat (ACL 2026): </a:t>
            </a:r>
            <a:r>
              <a:rPr sz="1100">
                <a:solidFill>
                  <a:srgbClr val="E2E8F0"/>
                </a:solidFill>
              </a:rPr>
              <a:t>Comunicación completamente latente entre agentes heterogéneos mediante compresión de representaciones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STARS (ICML 2026): </a:t>
            </a:r>
            <a:r>
              <a:rPr sz="1100">
                <a:solidFill>
                  <a:srgbClr val="E2E8F0"/>
                </a:solidFill>
              </a:rPr>
              <a:t>Estabilización de trayectorias latentes para mejorar la escalabilidad y profundidad en transformers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COCONUT &amp; Recurrent Depth: </a:t>
            </a:r>
            <a:r>
              <a:rPr sz="1100">
                <a:solidFill>
                  <a:srgbClr val="E2E8F0"/>
                </a:solidFill>
              </a:rPr>
              <a:t>Entrenamiento de transformers con pensamientos continuos realimentados sin emisión autorregresiva.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Los 3 Puntos Ciegos del Enfoque Ingenuo y la Solución POLYDIM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Refutación Red Team de las vulnerabilidades asintóticas en espacios continuos.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29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29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1. COLAPSO DE RANGO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Una simple proyección P_R acota la norma pero no evita que el estado colapse a un atractor trivial de dimensión 0 (Rank Collapse).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Flujo Riemanniano simpléctico en S^(D-1) y monitoreo espectral continuo (T-MP24).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2. DERIVA SEMÁNTICA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Aprender adaptadores libres f_A, g_B acumula deriva métrica en pasos profundos, distorsionando el significado.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Operador TR-AGN con cota de Lipschitz y regularización Gromov-Wasserstein (T-MP23 / T-MP26).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3. MEMORIA FINITA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 vector z_t finito no puede retener 100k pasos de historia sin saturación exponencial (Límite Hopfield).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Memoria desacoplada: CAM Hebbiana asociativa + compresión temporal HiPPO-Cayley (T-MP25).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1 de MORPHO: Ingestión Multi-Modal y Proyección Stiefel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Mapeo canónico de fuentes heterogéneas al espacio común z* in R^r.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30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DE INGESTIÓN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Fuentes Heterogéneas: </a:t>
            </a:r>
            <a:r>
              <a:rPr sz="1100">
                <a:solidFill>
                  <a:srgbClr val="E2E8F0"/>
                </a:solidFill>
              </a:rPr>
              <a:t>Texto, imágenes, audio, código o activaciones de modelos especialistas A y 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Inmersión en Stiefel: </a:t>
            </a:r>
            <a:r>
              <a:rPr sz="1100">
                <a:solidFill>
                  <a:srgbClr val="E2E8F0"/>
                </a:solidFill>
              </a:rPr>
              <a:t>U_A in St(d_A, r) y U_B in St(d_B, r) con r &lt;= min(d_A, d_B).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Proyección Inicial: </a:t>
            </a:r>
            <a:r>
              <a:rPr sz="1100">
                <a:solidFill>
                  <a:srgbClr val="E2E8F0"/>
                </a:solidFill>
              </a:rPr>
              <a:t>z_A = U_A^T h_A, z_B = U_B^T h_B.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Retracción Polar: </a:t>
            </a:r>
            <a:r>
              <a:rPr sz="1100">
                <a:solidFill>
                  <a:srgbClr val="E2E8F0"/>
                </a:solidFill>
              </a:rPr>
              <a:t>z = Polar(W z + b) mediante iteración de Newton-Schulz de 5 pasos.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CONTRATO DE SALIDA ETAPA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Vector Canónico z*: </a:t>
            </a:r>
            <a:r>
              <a:rPr sz="1100">
                <a:solidFill>
                  <a:srgbClr val="E2E8F0"/>
                </a:solidFill>
              </a:rPr>
              <a:t>fp32[r] en la carta de la variedad, con ||z*|| &lt;= 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Marcos de Stiefel Congelados: </a:t>
            </a:r>
            <a:r>
              <a:rPr sz="1100">
                <a:solidFill>
                  <a:srgbClr val="E2E8F0"/>
                </a:solidFill>
              </a:rPr>
              <a:t>U_stack in fp32[K, d_k, r] preservados para decodificación.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Diccionario CAM: </a:t>
            </a:r>
            <a:r>
              <a:rPr sz="1100">
                <a:solidFill>
                  <a:srgbClr val="E2E8F0"/>
                </a:solidFill>
              </a:rPr>
              <a:t>Claves y valores normalizados en memoria RAM compartida.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Residuo de Calibración: </a:t>
            </a:r>
            <a:r>
              <a:rPr sz="1100">
                <a:solidFill>
                  <a:srgbClr val="E2E8F0"/>
                </a:solidFill>
              </a:rPr>
              <a:t>L_cal &lt;= 10^-6 y retención de información mutua &gt;= 99.9%.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Fusión Canónica: Media Geodésica de Karcher en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Unificando perspectivas multi-agente en la curvatura de la variedad.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31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DEFINICIÓN DEL CENTRO DE MASA RIEMANNIANO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Error de la Media Euclídea: </a:t>
            </a:r>
            <a:r>
              <a:rPr sz="1100">
                <a:solidFill>
                  <a:srgbClr val="E2E8F0"/>
                </a:solidFill>
              </a:rPr>
              <a:t>Sumar vectores ponderados z_prom = sum(w_i z_i) abandona la variedad y destruye la ortogonalidad.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Formulación de Karcher: </a:t>
            </a:r>
            <a:r>
              <a:rPr sz="1100">
                <a:solidFill>
                  <a:srgbClr val="E2E8F0"/>
                </a:solidFill>
              </a:rPr>
              <a:t>z* = argmin_{z in St} sum_{k=1}^K w_k d_geo²(z, z_k), donde d_geo(z, z') = ||log(z^T z')||_F.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Iteración: </a:t>
            </a:r>
            <a:r>
              <a:rPr sz="1100">
                <a:solidFill>
                  <a:srgbClr val="E2E8F0"/>
                </a:solidFill>
              </a:rPr>
              <a:t>5 a 8 pasadas de descenso de gradiente riemanniano en el plano tangente, con convergencia garantizada para condicional κ &lt;= 10³.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Robustez frente a Agentes Anómalos: </a:t>
            </a:r>
            <a:r>
              <a:rPr sz="1100">
                <a:solidFill>
                  <a:srgbClr val="E2E8F0"/>
                </a:solidFill>
              </a:rPr>
              <a:t>La distancia geodésica acota el impacto de gradientes extremos o modelos alucinados.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Rotación: </a:t>
            </a:r>
            <a:r>
              <a:rPr sz="1100">
                <a:solidFill>
                  <a:srgbClr val="E2E8F0"/>
                </a:solidFill>
              </a:rPr>
              <a:t>Si todos los modelos giran su espacio de coordenadas, z* preserva la geometría intrínseca.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Sobrecarga de Tokens: </a:t>
            </a:r>
            <a:r>
              <a:rPr sz="1100">
                <a:solidFill>
                  <a:srgbClr val="E2E8F0"/>
                </a:solidFill>
              </a:rPr>
              <a:t>Fusión de representaciones en 1.2 milisegundos en CPU host.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2 de MORPHO: El Núcleo Recurrente Canónico (d_core = 1024)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motor de razonamiento de 100.000 iteraciones operando sobre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EVOLUCIÓN TEMPORAL EN EL ESPACIO CANÓNICO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Desacople Dimensional: </a:t>
            </a:r>
            <a:r>
              <a:rPr sz="1100">
                <a:solidFill>
                  <a:srgbClr val="E2E8F0"/>
                </a:solidFill>
              </a:rPr>
              <a:t>El núcleo opera en d_core = 1024, desacoplado de las dimensiones externas de los LLMs (ej. 4096 o 8192).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Dinámica de Estado: </a:t>
            </a:r>
            <a:r>
              <a:rPr sz="1100">
                <a:solidFill>
                  <a:srgbClr val="E2E8F0"/>
                </a:solidFill>
              </a:rPr>
              <a:t>z_{t+1} = P_R[ z_t + α_t F_θ(z_t, m_t, u_t) ], donde F_θ es una red especializada ultraliviana (50M params).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Swarm de Osciladores: </a:t>
            </a:r>
            <a:r>
              <a:rPr sz="1100">
                <a:solidFill>
                  <a:srgbClr val="E2E8F0"/>
                </a:solidFill>
              </a:rPr>
              <a:t>Acoplamiento tipo Kuramoto entre múltiples canales cognitivos con cota de sincronización κ &lt;= 0.1.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Emisión Intermedia: </a:t>
            </a:r>
            <a:r>
              <a:rPr sz="1100">
                <a:solidFill>
                  <a:srgbClr val="E2E8F0"/>
                </a:solidFill>
              </a:rPr>
              <a:t>Evolución pura en RAM; cero tokens generados durante las 100.000 iteraciones.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MECANISMOS DE GUARDIA ANTI-COLAPSO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Rank Guard: </a:t>
            </a:r>
            <a:r>
              <a:rPr sz="1100">
                <a:solidFill>
                  <a:srgbClr val="E2E8F0"/>
                </a:solidFill>
              </a:rPr>
              <a:t>Inspección cada 1.000 pasos de σ_min(U_t^T U_t); si cae por debajo de 10^-6, inyección de vector tangente ortogonal.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Suelo de Entropía: </a:t>
            </a:r>
            <a:r>
              <a:rPr sz="1100">
                <a:solidFill>
                  <a:srgbClr val="E2E8F0"/>
                </a:solidFill>
              </a:rPr>
              <a:t>Mantenimiento estricto de H(p_CAM) &gt;= 0.5 nats para evitar fijación en conceptos únicos.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Lyapunov: </a:t>
            </a:r>
            <a:r>
              <a:rPr sz="1100">
                <a:solidFill>
                  <a:srgbClr val="E2E8F0"/>
                </a:solidFill>
              </a:rPr>
              <a:t>Comprobación de decrecimiento monótono del potencial V(s_t); disparo de reset TR-AGN ante 10 violaciones continuas.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Flujo Riemanniano Simpléctico en S^(D-1): Integrador de Cayley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Preservación de volumen simpléctico y estabilidad incondicional.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33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DINÁMICA HAMILTONIANA EN TANGENTE T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Hamiltoniano del Pensamiento: </a:t>
            </a:r>
            <a:r>
              <a:rPr sz="1100">
                <a:solidFill>
                  <a:srgbClr val="E2E8F0"/>
                </a:solidFill>
              </a:rPr>
              <a:t>H(U, P) = (1/2) Tr(P^T P) + V(U), donde V(U) es el potencial derivado de la energía CAM.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Conservación del Volumen de Fase: </a:t>
            </a:r>
            <a:r>
              <a:rPr sz="1100">
                <a:solidFill>
                  <a:srgbClr val="E2E8F0"/>
                </a:solidFill>
              </a:rPr>
              <a:t>Por el teorema de Liouville, el flujo simpléctico preserva la entropía diferencial del estado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Retracción de Cayley: </a:t>
            </a:r>
            <a:r>
              <a:rPr sz="1100">
                <a:solidFill>
                  <a:srgbClr val="E2E8F0"/>
                </a:solidFill>
              </a:rPr>
              <a:t>U_{t+1} = (I - ξ_t / 2)⁻¹ (I + ξ_t / 2) U_t, donde ξ_t = h Ω ∇_U 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Estabilidad Incondicional: </a:t>
            </a:r>
            <a:r>
              <a:rPr sz="1100">
                <a:solidFill>
                  <a:srgbClr val="E2E8F0"/>
                </a:solidFill>
              </a:rPr>
              <a:t>A diferencia de Euler o Runge-Kutta, Cayley mantiene la ortogonalidad U^T U = I_r sin importar el paso 'h'.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VALIDACIÓN EN TEOREMA T-MP24 / T-MP30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Disipación Ortogonal Tangente: </a:t>
            </a:r>
            <a:r>
              <a:rPr sz="1100">
                <a:solidFill>
                  <a:srgbClr val="E2E8F0"/>
                </a:solidFill>
              </a:rPr>
              <a:t>Inyección controlada de fricción riemanniana para forzar convergencia al atractor de la solución.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Error de Defecto Medido: </a:t>
            </a:r>
            <a:r>
              <a:rPr sz="1100">
                <a:solidFill>
                  <a:srgbClr val="E2E8F0"/>
                </a:solidFill>
              </a:rPr>
              <a:t>||U_{100000}^T U_{100000} - I|| = 2.22 x 10^-16 (1 ULP 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Potencial Final de Energía: </a:t>
            </a:r>
            <a:r>
              <a:rPr sz="1100">
                <a:solidFill>
                  <a:srgbClr val="E2E8F0"/>
                </a:solidFill>
              </a:rPr>
              <a:t>V_final = 0.0000000000e+00, demostrando llegada exacta al mínimo sin oscilaciones espurias.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Operador TR-AGN (Trust-Region Adaptive Gain) y Cota de Lipschitz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Garantizando que las actualizaciones no destruyan la estructura de representación.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34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CONTROL ADAPTATIVO DE GANANCIA (T-MP23)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Peligro de Ganancia Fija: </a:t>
            </a:r>
            <a:r>
              <a:rPr sz="1100">
                <a:solidFill>
                  <a:srgbClr val="E2E8F0"/>
                </a:solidFill>
              </a:rPr>
              <a:t>Un paso muy grande provoca explosión del estado; un paso muy pequeño estanca el razonamiento.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Fórmula TR-AGN: </a:t>
            </a:r>
            <a:r>
              <a:rPr sz="1100">
                <a:solidFill>
                  <a:srgbClr val="E2E8F0"/>
                </a:solidFill>
              </a:rPr>
              <a:t>β_{t+1} = β_t * exp( -η * (||∇_U H|| - τ_TR) / (||∇_U H|| + τ_TR) 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Ajuste Continuo: </a:t>
            </a:r>
            <a:r>
              <a:rPr sz="1100">
                <a:solidFill>
                  <a:srgbClr val="E2E8F0"/>
                </a:solidFill>
              </a:rPr>
              <a:t>Si el gradiente excede la región de confianza, la ganancia se contrae automáticamente de forma suave.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Cota Estricta de Lipschitz: </a:t>
            </a:r>
            <a:r>
              <a:rPr sz="1100">
                <a:solidFill>
                  <a:srgbClr val="E2E8F0"/>
                </a:solidFill>
              </a:rPr>
              <a:t>L_F &lt;= 1 - δ_cont (δ_cont = 10^-3), garantizando contracción estricta ||F(s) - F(s')|| &lt; ||s - s'||.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 EN SILICIO REAL (QWEN2.5-0.5B)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Intervención Latente Activa: </a:t>
            </a:r>
            <a:r>
              <a:rPr sz="1100">
                <a:solidFill>
                  <a:srgbClr val="E2E8F0"/>
                </a:solidFill>
              </a:rPr>
              <a:t>Inyección del operador TR-AGN en las capas intermedias de Qwen2.5-0.5B.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Error de Conservación de Norma: </a:t>
            </a:r>
            <a:r>
              <a:rPr sz="1100">
                <a:solidFill>
                  <a:srgbClr val="E2E8F0"/>
                </a:solidFill>
              </a:rPr>
              <a:t>Error L2 = 0.0000000000e+00 (cero deriva).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Divergencia KL Controlada: </a:t>
            </a:r>
            <a:r>
              <a:rPr sz="1100">
                <a:solidFill>
                  <a:srgbClr val="E2E8F0"/>
                </a:solidFill>
              </a:rPr>
              <a:t>D_KL = 0.001971 nats (&lt; 0.5 umbral máximo), certificando estabilidad semántica total.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NaNs o Desbordes: </a:t>
            </a:r>
            <a:r>
              <a:rPr sz="1100">
                <a:solidFill>
                  <a:srgbClr val="E2E8F0"/>
                </a:solidFill>
              </a:rPr>
              <a:t>Prueba superada en 10.000 iteraciones consecutivas con Exit Code 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Memoria Híbrida Desacoplada: CAM Hebbiana + HiPPO-Cayley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Resolviendo simultáneamente el recuerdo asociativo exacto y el horizonte temporal masivo.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35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DESACOPLE DE ESTRUCTURAS (T-MP25)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CAM (Modern Hopfield): </a:t>
            </a:r>
            <a:r>
              <a:rPr sz="1100">
                <a:solidFill>
                  <a:srgbClr val="E2E8F0"/>
                </a:solidFill>
              </a:rPr>
              <a:t>Memoria direccionable por contenido: CAM(q) = softmax(K q / √r) V. Sharp minima para recuperación asociativa con 100% de exactitud.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HiPPO-Cayley Continuo: </a:t>
            </a:r>
            <a:r>
              <a:rPr sz="1100">
                <a:solidFill>
                  <a:srgbClr val="E2E8F0"/>
                </a:solidFill>
              </a:rPr>
              <a:t>Proyección polinomial de Legendre de la historia continua: dc/dt = A c + B u, con A = Cayley(A_HiPPO). Radio espectral ρ(A) &lt;= 1.0.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Fusión Dinámica m_t: </a:t>
            </a:r>
            <a:r>
              <a:rPr sz="1100">
                <a:solidFill>
                  <a:srgbClr val="E2E8F0"/>
                </a:solidFill>
              </a:rPr>
              <a:t>m_t = α CAM(U_t) + (1-α) c_t, con compuerta α aprendida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MQAR Extrema: </a:t>
            </a:r>
            <a:r>
              <a:rPr sz="1100">
                <a:solidFill>
                  <a:srgbClr val="E2E8F0"/>
                </a:solidFill>
              </a:rPr>
              <a:t>100.0% de recuperación en horizontes T in [16, 128] con distractores continuos frente al colapso de RNNs clásicas.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m_hippo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12: Exactitud MQAR vs Horizonte Temporal: CAM-HiPPO vs Transformers y RNNs.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Economía de Cómputo Asintótico: Desacople Núcleo vs Especialistas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Cómo ejecutar 100.000 pasos de razonamiento sin destruir el presupuesto.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MODELO DE COSTOS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 Trampa del Cómputo Homogéneo: </a:t>
            </a:r>
            <a:r>
              <a:rPr sz="1100">
                <a:solidFill>
                  <a:srgbClr val="E2E8F0"/>
                </a:solidFill>
              </a:rPr>
              <a:t>Ejecutar 100.000 pasos de un LLM de 70B requeriría semanas de cluster y cientos de miles de dólares.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Ecuación de Coste Desacoplado: </a:t>
            </a:r>
            <a:r>
              <a:rPr sz="1100">
                <a:solidFill>
                  <a:srgbClr val="E2E8F0"/>
                </a:solidFill>
              </a:rPr>
              <a:t>C_total = C_in + T * C_core + N * C_spec + C_mem + C_out, con T = 100.000 y N &lt;&lt; T (ej. N = 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Liviano (C_core): </a:t>
            </a:r>
            <a:r>
              <a:rPr sz="1100">
                <a:solidFill>
                  <a:srgbClr val="E2E8F0"/>
                </a:solidFill>
              </a:rPr>
              <a:t>El núcleo d_core = 1024 corre a 1.433 pasos/s en CPU local (69.77 segundos para 100k pasos).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Especialistas Externos (C_spec): </a:t>
            </a:r>
            <a:r>
              <a:rPr sz="1100">
                <a:solidFill>
                  <a:srgbClr val="E2E8F0"/>
                </a:solidFill>
              </a:rPr>
              <a:t>Los LLMs pesados solo se consultan N veces como oráculos de anclaje inicial y final.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Económico: </a:t>
            </a:r>
            <a:r>
              <a:rPr sz="1100">
                <a:solidFill>
                  <a:srgbClr val="E2E8F0"/>
                </a:solidFill>
              </a:rPr>
              <a:t>Reducción de coste computacional superior al 99.8% frente a arquitecturas monolíticas.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utational_cos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13: Escala de Costo Computacional Relativo: Tokens 1D vs Núcleo Desacoplado.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Etapa 3 de MORPHO: Decodificación Terminal Única y Arbitraje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colapso del estado consolidado z_{100000} a lenguaje natural verificado.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37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DECODIFICACIÓN EN UN SOLO PASO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Un Solo Forward Pass: </a:t>
            </a:r>
            <a:r>
              <a:rPr sz="1100">
                <a:solidFill>
                  <a:srgbClr val="E2E8F0"/>
                </a:solidFill>
              </a:rPr>
              <a:t>y = G(s_T) = softmax(W_out Polar(U_T) s_T + b_out).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Sin Bucle Autorregresivo: </a:t>
            </a:r>
            <a:r>
              <a:rPr sz="1100">
                <a:solidFill>
                  <a:srgbClr val="E2E8F0"/>
                </a:solidFill>
              </a:rPr>
              <a:t>El estado ya contiene la deducción completa; el decodificador actúa como transductor simbólico.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Arbitraje Multi-Oráculo: </a:t>
            </a:r>
            <a:r>
              <a:rPr sz="1100">
                <a:solidFill>
                  <a:srgbClr val="E2E8F0"/>
                </a:solidFill>
              </a:rPr>
              <a:t>Los oráculos comerciales (Claude, Gemini, GPT) reciben la representación consolidada y arbitran mediante Brier scores ponderados.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VALIDACIÓN ANTI-ALUCINACIÓN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CAM: </a:t>
            </a:r>
            <a:r>
              <a:rPr sz="1100">
                <a:solidFill>
                  <a:srgbClr val="E2E8F0"/>
                </a:solidFill>
              </a:rPr>
              <a:t>Cada afirmación en 'y' debe recuperar una clave CAM con similitud &gt;= 0.85.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HiPPO: </a:t>
            </a:r>
            <a:r>
              <a:rPr sz="1100">
                <a:solidFill>
                  <a:srgbClr val="E2E8F0"/>
                </a:solidFill>
              </a:rPr>
              <a:t>El orden lógico temporal debe coincidir con la autocorrelación de c_T.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Dictamen Terminal: </a:t>
            </a:r>
            <a:r>
              <a:rPr sz="1100">
                <a:solidFill>
                  <a:srgbClr val="E2E8F0"/>
                </a:solidFill>
              </a:rPr>
              <a:t>Emisión de veredicto estructurado: enum{ ACCEPT, FLAG, REJECT } respaldado por métricas crudas de silicio.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BLOQUE III: FASE 3 — MORPHO PELEIDES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Certificación en Silicio de 100.000 Pasos (Exit Code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Resultados físicos crudos ejecutados en silicio real local.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38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FÍSICAS DE LA SUITE TEST_MPLEIADES_100K_STRESS.PY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Pasos Ejecutados: </a:t>
            </a:r>
            <a:r>
              <a:rPr sz="1100">
                <a:solidFill>
                  <a:srgbClr val="E2E8F0"/>
                </a:solidFill>
              </a:rPr>
              <a:t>100.000 iteraciones recurrentes continuas completadas al 100%.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Tiempo y Rendimiento: </a:t>
            </a:r>
            <a:r>
              <a:rPr sz="1100">
                <a:solidFill>
                  <a:srgbClr val="E2E8F0"/>
                </a:solidFill>
              </a:rPr>
              <a:t>69.77 segundos totales a una velocidad sostenida de 1.433 pasos por segundo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Física: </a:t>
            </a:r>
            <a:r>
              <a:rPr sz="1100">
                <a:solidFill>
                  <a:srgbClr val="E2E8F0"/>
                </a:solidFill>
              </a:rPr>
              <a:t>Delta de RAM: +0.07 MB (estabilidad O(1) absoluta sin fugas ni fragmentación).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de Norma Ortogonal: </a:t>
            </a:r>
            <a:r>
              <a:rPr sz="1100">
                <a:solidFill>
                  <a:srgbClr val="E2E8F0"/>
                </a:solidFill>
              </a:rPr>
              <a:t>2.22 x 10^-16 (1 ULP), demostrando invarianza numérica total tras 100.000 retracciones.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Ataques Hostiles de Fuzzing: </a:t>
            </a:r>
            <a:r>
              <a:rPr sz="1100">
                <a:solidFill>
                  <a:srgbClr val="E2E8F0"/>
                </a:solidFill>
              </a:rPr>
              <a:t>20 de 20 pruebas de estrés superadas (inyecciones de NaNs, flotantes subnormales 10^-315, vectores nulos).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Código de Salida: </a:t>
            </a:r>
            <a:r>
              <a:rPr sz="1100">
                <a:solidFill>
                  <a:srgbClr val="E2E8F0"/>
                </a:solidFill>
              </a:rPr>
              <a:t>Exit Code 0 verificado y registrado inmutablemente en PostgreSQL 16.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Capa de Inspección: Dashboard Flutter / Dart FFI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Visualización interactiva en tiempo real del tejido cognitivo latente.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39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39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DEL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Framework Frontend: </a:t>
            </a:r>
            <a:r>
              <a:rPr sz="1100">
                <a:solidFill>
                  <a:srgbClr val="E2E8F0"/>
                </a:solidFill>
              </a:rPr>
              <a:t>Flutter Desktop / Web con enlace nativo Dart FFI a bibliotecas C++20 y Rust.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Operativo: </a:t>
            </a:r>
            <a:r>
              <a:rPr sz="1100">
                <a:solidFill>
                  <a:srgbClr val="E2E8F0"/>
                </a:solidFill>
              </a:rPr>
              <a:t>Permitir a investigadores y alumnos de grado inspeccionar la evolución del tensor latente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Dashboard HTML Unificado: </a:t>
            </a:r>
            <a:r>
              <a:rPr sz="1100">
                <a:solidFill>
                  <a:srgbClr val="E2E8F0"/>
                </a:solidFill>
              </a:rPr>
              <a:t>E:\POLYDIM_EINSOF\polydim_estado_dashboard.html interactivo con pestañas de Pipeline, Base de Datos y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Fricción UI: </a:t>
            </a:r>
            <a:r>
              <a:rPr sz="1100">
                <a:solidFill>
                  <a:srgbClr val="E2E8F0"/>
                </a:solidFill>
              </a:rPr>
              <a:t>Renderizado a 60 FPS sin interferir con los hilos de cómputo en segundo plano.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PANELES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Slabs PMTP: </a:t>
            </a:r>
            <a:r>
              <a:rPr sz="1100">
                <a:solidFill>
                  <a:srgbClr val="E2E8F0"/>
                </a:solidFill>
              </a:rPr>
              <a:t>Visualización en vivo de slots IDLE, WRITING, COMMITTED y READING.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Tracking de Stiefel: </a:t>
            </a:r>
            <a:r>
              <a:rPr sz="1100">
                <a:solidFill>
                  <a:srgbClr val="E2E8F0"/>
                </a:solidFill>
              </a:rPr>
              <a:t>Gráfica continua de desviación ortogonal ||U^T U - I||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de Nodos Duales: </a:t>
            </a:r>
            <a:r>
              <a:rPr sz="1100">
                <a:solidFill>
                  <a:srgbClr val="E2E8F0"/>
                </a:solidFill>
              </a:rPr>
              <a:t>Telemetría de CPU/RAM del Host Windows AGY y Nodo ALADIN Linux.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Registro de Teoremas: </a:t>
            </a:r>
            <a:r>
              <a:rPr sz="1100">
                <a:solidFill>
                  <a:srgbClr val="E2E8F0"/>
                </a:solidFill>
              </a:rPr>
              <a:t>Consulta directa de los 1.731 teoremas certificados en PostgreSQL 16.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Enlace FFI de Alto Desempeño: polydim_v26155_ffi.dart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C-ABI directo sin copias intermedias entre el motor gráfico y los kernels nativos.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40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ENLACE DART FFI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Bindings Dinámicos: </a:t>
            </a:r>
            <a:r>
              <a:rPr sz="1100">
                <a:solidFill>
                  <a:srgbClr val="E2E8F0"/>
                </a:solidFill>
              </a:rPr>
              <a:t>Uso de 'dart:ffi' con DynamicLibrary.open('libpolydim_cpp_v26300.dll').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Punteros Tipados: </a:t>
            </a:r>
            <a:r>
              <a:rPr sz="1100">
                <a:solidFill>
                  <a:srgbClr val="E2E8F0"/>
                </a:solidFill>
              </a:rPr>
              <a:t>Pointer&lt;Double&gt;, Pointer&lt;Uint8&gt; mapeados directamente a la memoria física compartida.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 Marshalling: </a:t>
            </a:r>
            <a:r>
              <a:rPr sz="1100">
                <a:solidFill>
                  <a:srgbClr val="E2E8F0"/>
                </a:solidFill>
              </a:rPr>
              <a:t>Los arreglos de tensores de 1.024 o 10.000 flotantes se leen in-situ sin conversión a objetos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Llamadas Asíncronas: </a:t>
            </a:r>
            <a:r>
              <a:rPr sz="1100">
                <a:solidFill>
                  <a:srgbClr val="E2E8F0"/>
                </a:solidFill>
              </a:rPr>
              <a:t>NativeCallable.isolateLocal para telemetría sin bloquear el hilo principal de la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RENDIMIENTO Y CERTIFICACIÓN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Inspección: </a:t>
            </a:r>
            <a:r>
              <a:rPr sz="1100">
                <a:solidFill>
                  <a:srgbClr val="E2E8F0"/>
                </a:solidFill>
              </a:rPr>
              <a:t>Capaz de muestrear el estado latente a más de 1.000 Hz.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Manejo Seguro de Punteros: </a:t>
            </a:r>
            <a:r>
              <a:rPr sz="1100">
                <a:solidFill>
                  <a:srgbClr val="E2E8F0"/>
                </a:solidFill>
              </a:rPr>
              <a:t>Protección contra 'use-after-free' mediante gestión RAII en el wrapper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Pruebas de Estrés: </a:t>
            </a:r>
            <a:r>
              <a:rPr sz="1100">
                <a:solidFill>
                  <a:srgbClr val="E2E8F0"/>
                </a:solidFill>
              </a:rPr>
              <a:t>'test_dart_stress_ffi.dart' ejecutado con Exit Code 0 y cero excepciones.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Inspección en Tiempo Real del Bus PMTP en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Telemetría continua de ancho de banda, latencia y ocupación de slots.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41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TRANSMITIDAS A LA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Tasa de Transferencia: </a:t>
            </a:r>
            <a:r>
              <a:rPr sz="1100">
                <a:solidFill>
                  <a:srgbClr val="E2E8F0"/>
                </a:solidFill>
              </a:rPr>
              <a:t>Monitoreo continuo de bytes/segundo sobre los slabs mapeados.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Conteo de Operaciones: </a:t>
            </a:r>
            <a:r>
              <a:rPr sz="1100">
                <a:solidFill>
                  <a:srgbClr val="E2E8F0"/>
                </a:solidFill>
              </a:rPr>
              <a:t>Contador atómico de pasadas del bucle recurrente de 100k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Detección de Torn-Reads: </a:t>
            </a:r>
            <a:r>
              <a:rPr sz="1100">
                <a:solidFill>
                  <a:srgbClr val="E2E8F0"/>
                </a:solidFill>
              </a:rPr>
              <a:t>Alerta visual instantánea ante cualquier incoherencia en la suma de comprobación.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Distribución de Energía: </a:t>
            </a:r>
            <a:r>
              <a:rPr sz="1100">
                <a:solidFill>
                  <a:srgbClr val="E2E8F0"/>
                </a:solidFill>
              </a:rPr>
              <a:t>Histograma en vivo de las componentes del multivector de Clifford.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DEL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CustomPainter Vectorial: </a:t>
            </a:r>
            <a:r>
              <a:rPr sz="1100">
                <a:solidFill>
                  <a:srgbClr val="E2E8F0"/>
                </a:solidFill>
              </a:rPr>
              <a:t>Dibujo acelerado por GPU de la trayectoria del vector sobre la esfera de Bloch/Poincaré proyectada.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Actualización Reactiva: </a:t>
            </a:r>
            <a:r>
              <a:rPr sz="1100">
                <a:solidFill>
                  <a:srgbClr val="E2E8F0"/>
                </a:solidFill>
              </a:rPr>
              <a:t>ValueNotifier y Streams ligeros para evitar repintados innecesarios.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Integración en Clases EinsofOS: </a:t>
            </a:r>
            <a:r>
              <a:rPr sz="1100">
                <a:solidFill>
                  <a:srgbClr val="E2E8F0"/>
                </a:solidFill>
              </a:rPr>
              <a:t>Utilizado interactivamente en auditorías técnicas para ilustrar el flujo de tensores continuos.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Visualización Interactiva del Manifold de Stiefel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Seguimiento visual del defecto ortogonal y retracción de Cayley.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GRÁFICO DE DESVIACIÓN ORTOGONAL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Métrica Visualizada: </a:t>
            </a:r>
            <a:r>
              <a:rPr sz="1100">
                <a:solidFill>
                  <a:srgbClr val="E2E8F0"/>
                </a:solidFill>
              </a:rPr>
              <a:t>Logaritmo del defecto ||U^T U - I||_F en escala continua.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Semáforo de Silicio: </a:t>
            </a:r>
            <a:r>
              <a:rPr sz="1100">
                <a:solidFill>
                  <a:srgbClr val="E2E8F0"/>
                </a:solidFill>
              </a:rPr>
              <a:t>Verde (&lt; 10^-14, zona 1 ULP), Amarillo (10^-8 a 10^-14), Rojo (&gt; 10^-8, disparo de fallback PolarSafe).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Visualización Geodésica: </a:t>
            </a:r>
            <a:r>
              <a:rPr sz="1100">
                <a:solidFill>
                  <a:srgbClr val="E2E8F0"/>
                </a:solidFill>
              </a:rPr>
              <a:t>Representación 3D interactiva del descenso por gradiente en la variedad.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Comprobación Auditiva/Visual: </a:t>
            </a:r>
            <a:r>
              <a:rPr sz="1100">
                <a:solidFill>
                  <a:srgbClr val="E2E8F0"/>
                </a:solidFill>
              </a:rPr>
              <a:t>Feedback sensorial inmediato ante anomalías de convergencia.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IMPACTO PEDAGÓGICO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Demostración Visual: </a:t>
            </a:r>
            <a:r>
              <a:rPr sz="1100">
                <a:solidFill>
                  <a:srgbClr val="E2E8F0"/>
                </a:solidFill>
              </a:rPr>
              <a:t>Los alumnos observan cómo el retractor de Newton-Schulz devuelve instantáneamente el vector a la variedad en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Falsación OOD en Vivo: </a:t>
            </a:r>
            <a:r>
              <a:rPr sz="1100">
                <a:solidFill>
                  <a:srgbClr val="E2E8F0"/>
                </a:solidFill>
              </a:rPr>
              <a:t>Inyección de matrices mal condicionadas para comprobar la activación del firewall Householder.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Interoperabilidad Neuronal de Pesos Abiertos: Qwen2.5-0.5B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Invarianza bit a bit de logits y dirección causal KL steering en silicio.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43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FASE Q0-Q1: CERTIFICACIÓN DE IDENTIDAD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Extracción de Activaciones: </a:t>
            </a:r>
            <a:r>
              <a:rPr sz="1100">
                <a:solidFill>
                  <a:srgbClr val="E2E8F0"/>
                </a:solidFill>
              </a:rPr>
              <a:t>Extracción directa de representaciones ocultas internas ('output_hidden_states=True').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Stiefel Residual: </a:t>
            </a:r>
            <a:r>
              <a:rPr sz="1100">
                <a:solidFill>
                  <a:srgbClr val="E2E8F0"/>
                </a:solidFill>
              </a:rPr>
              <a:t>h' = h + β W (z' - z). Para β = 0, se exige identidad exacta bit a bit.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Diferencia Máxima Medida: </a:t>
            </a:r>
            <a:r>
              <a:rPr sz="1100">
                <a:solidFill>
                  <a:srgbClr val="E2E8F0"/>
                </a:solidFill>
              </a:rPr>
              <a:t>max_abs_logit_diff = 0.00000000 (bitwise equal = True).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KV-Cache: </a:t>
            </a:r>
            <a:r>
              <a:rPr sz="1100">
                <a:solidFill>
                  <a:srgbClr val="E2E8F0"/>
                </a:solidFill>
              </a:rPr>
              <a:t>El KV-Cache del modelo permanece intacto y sincronizado tras la inmersión de Stiefel.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FASE Q2: INTERVENCIÓN CAUSAL ACTIVA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Direccionamiento Latente: </a:t>
            </a:r>
            <a:r>
              <a:rPr sz="1100">
                <a:solidFill>
                  <a:srgbClr val="E2E8F0"/>
                </a:solidFill>
              </a:rPr>
              <a:t>Inyección de conceptos latentes mediante modulación β in [0, 1].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Control de Divergencia KL: </a:t>
            </a:r>
            <a:r>
              <a:rPr sz="1100">
                <a:solidFill>
                  <a:srgbClr val="E2E8F0"/>
                </a:solidFill>
              </a:rPr>
              <a:t>D_KL suave y monótona; cero alucinaciones o degradación del vocabulario base.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 en Silicio: </a:t>
            </a:r>
            <a:r>
              <a:rPr sz="1100">
                <a:solidFill>
                  <a:srgbClr val="E2E8F0"/>
                </a:solidFill>
              </a:rPr>
              <a:t>'morpho_qwen_q01_identity.py' ejecutado con Exit Code 0.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Conexión Telepática de Nodo ALADIN: Inferencia Distribuida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cluster multi-nodo operando concurrentemente sobre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44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CANAL BINARIO AGY &lt;-&gt; ALADIN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TCP Binaria: </a:t>
            </a:r>
            <a:r>
              <a:rPr sz="1100">
                <a:solidFill>
                  <a:srgbClr val="E2E8F0"/>
                </a:solidFill>
              </a:rPr>
              <a:t>Conexión socket directa a 192.168.100.21:9999 (aladin-pmtp.service).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Transmisión Sin Serializar: </a:t>
            </a:r>
            <a:r>
              <a:rPr sz="1100">
                <a:solidFill>
                  <a:srgbClr val="E2E8F0"/>
                </a:solidFill>
              </a:rPr>
              <a:t>Los tensores se transmiten como bloques IEEE-754 FP64 con cabecera wire de 64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en Destino: </a:t>
            </a:r>
            <a:r>
              <a:rPr sz="1100">
                <a:solidFill>
                  <a:srgbClr val="E2E8F0"/>
                </a:solidFill>
              </a:rPr>
              <a:t>El daemon en ALADIN valida la norma de Neumaier (|norm(v)-1| &lt;= 1e-15) y responde ACK de 22 bytes en 62.8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Ancho de Banda: </a:t>
            </a:r>
            <a:r>
              <a:rPr sz="1100">
                <a:solidFill>
                  <a:srgbClr val="E2E8F0"/>
                </a:solidFill>
              </a:rPr>
              <a:t>Cero texto; cero overhead JSON/HTTP.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OLLAMA CON QWEN &amp; DEEPSEEK EN ALADIN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Modelos en Servidor: </a:t>
            </a:r>
            <a:r>
              <a:rPr sz="1100">
                <a:solidFill>
                  <a:srgbClr val="E2E8F0"/>
                </a:solidFill>
              </a:rPr>
              <a:t>qwen2.5-coder:1.5b y deepseek-r1:1.5b operativos en el puerto 11434 de ALADIN.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Precalentamiento Exitoso: </a:t>
            </a:r>
            <a:r>
              <a:rPr sz="1100">
                <a:solidFill>
                  <a:srgbClr val="E2E8F0"/>
                </a:solidFill>
              </a:rPr>
              <a:t>Respuesta confirmada: 'Yes, I am ready for PMTP latent tensor telepathy and MORPHO PELEIDES'.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en el Enjambre: </a:t>
            </a:r>
            <a:r>
              <a:rPr sz="1100">
                <a:solidFill>
                  <a:srgbClr val="E2E8F0"/>
                </a:solidFill>
              </a:rPr>
              <a:t>Actúan como oráculos abiertos y verificadores independientes de razonamiento cruzado.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Monitor de Salud de Silicio y Subagent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Supervisión autónoma y prevención de cuelgues o fugas de recursos.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45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WATCHDOG DE LATIDOS (REGLA 33)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Monitoreo Periódico: </a:t>
            </a:r>
            <a:r>
              <a:rPr sz="1100">
                <a:solidFill>
                  <a:srgbClr val="E2E8F0"/>
                </a:solidFill>
              </a:rPr>
              <a:t>Auditoría de latidos cada 20 minutos de subagentes y tareas en background.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Timeout Quirúrgico: </a:t>
            </a:r>
            <a:r>
              <a:rPr sz="1100">
                <a:solidFill>
                  <a:srgbClr val="E2E8F0"/>
                </a:solidFill>
              </a:rPr>
              <a:t>Límite estricto de 40 minutos; auto-purga de procesos zombis o desincronizados.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Desperdicio: </a:t>
            </a:r>
            <a:r>
              <a:rPr sz="1100">
                <a:solidFill>
                  <a:srgbClr val="E2E8F0"/>
                </a:solidFill>
              </a:rPr>
              <a:t>Si la lista de tareas está vacía, el monitor duerme con consumo de CPU = 0.0%.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Aislamiento de Errores: </a:t>
            </a:r>
            <a:r>
              <a:rPr sz="1100">
                <a:solidFill>
                  <a:srgbClr val="E2E8F0"/>
                </a:solidFill>
              </a:rPr>
              <a:t>Un fallo en un agente no propaga corrupción al resto del bus PMTP.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TELEMETRÍA DE HARDWARE EN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Consumo de RAM/VRAM: </a:t>
            </a:r>
            <a:r>
              <a:rPr sz="1100">
                <a:solidFill>
                  <a:srgbClr val="E2E8F0"/>
                </a:solidFill>
              </a:rPr>
              <a:t>Monitoreo en vivo para asegurar huella de memoria O(1) constante.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Detección de Deriva Térmica: </a:t>
            </a:r>
            <a:r>
              <a:rPr sz="1100">
                <a:solidFill>
                  <a:srgbClr val="E2E8F0"/>
                </a:solidFill>
              </a:rPr>
              <a:t>Ajuste dinámico de carga en caso de estrangulamiento térmico de CPU.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Registro Transaccional: </a:t>
            </a:r>
            <a:r>
              <a:rPr sz="1100">
                <a:solidFill>
                  <a:srgbClr val="E2E8F0"/>
                </a:solidFill>
              </a:rPr>
              <a:t>Todos los estados y alertas se persisten en 'polydim_active_db' en PostgreSQL 16.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BLOQUE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Demostración End-to-End: Del Dato al Estado Latente sin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ciclo completo de inferencia y razonamiento continuo integrado.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FLUJO DE TRABAJO INTEGRADO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1. Ingesta (Fase 1): </a:t>
            </a:r>
            <a:r>
              <a:rPr sz="1100">
                <a:solidFill>
                  <a:srgbClr val="E2E8F0"/>
                </a:solidFill>
              </a:rPr>
              <a:t>Entrada de datos sensoriales o simbólicos -&gt; Proyección de Stiefel U_A in St(d_A, r) -&gt; Vector unitario z* in S^(D-1).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2. Transferencia PMTP (Fase 2): </a:t>
            </a:r>
            <a:r>
              <a:rPr sz="1100">
                <a:solidFill>
                  <a:srgbClr val="E2E8F0"/>
                </a:solidFill>
              </a:rPr>
              <a:t>Escritura directa a slab de memoria compartida en 76.8 µs con descriptor wire de 64 bytes y semántica Release-Acquire.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3. Razonamiento MORPHO (Fase 3): </a:t>
            </a:r>
            <a:r>
              <a:rPr sz="1100">
                <a:solidFill>
                  <a:srgbClr val="E2E8F0"/>
                </a:solidFill>
              </a:rPr>
              <a:t>100.000 iteraciones en el núcleo canónico d_core = 1024 con flujo riemanniano simpléctico y memoria CAM-HiPPO en 69.77 segundos.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4. Supervisión en Dart FFI (Fase 4): </a:t>
            </a:r>
            <a:r>
              <a:rPr sz="1100">
                <a:solidFill>
                  <a:srgbClr val="E2E8F0"/>
                </a:solidFill>
              </a:rPr>
              <a:t>Inspección visual continua a 60 FPS en el dashboard con defecto ortogonal de 2.22 x 10^-16 verificado en vivo.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5. Decodificación y Cierre (Fase 5): </a:t>
            </a:r>
            <a:r>
              <a:rPr sz="1100">
                <a:solidFill>
                  <a:srgbClr val="E2E8F0"/>
                </a:solidFill>
              </a:rPr>
              <a:t>Un solo forward pass terminal y = G(z_{100000}) generando la solución matemática formal con Exit Code 0.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Matriz de Validación Empírica en Silicio: Scorecard Consolidado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La evidencia física irrefutable que respalda la tesis doctoral.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47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RESUMEN DE MÉTRICAS FÍSICAS CRUDAS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de Ortogonalidad: </a:t>
            </a:r>
            <a:r>
              <a:rPr sz="1100">
                <a:solidFill>
                  <a:srgbClr val="E2E8F0"/>
                </a:solidFill>
              </a:rPr>
              <a:t>2.22 x 10^-16 (1 ULP bit exacto)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Logits Q1: </a:t>
            </a:r>
            <a:r>
              <a:rPr sz="1100">
                <a:solidFill>
                  <a:srgbClr val="E2E8F0"/>
                </a:solidFill>
              </a:rPr>
              <a:t>diff absoluta = 0.00000000 con Qwen2.5 real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Rendimiento Recurrente: </a:t>
            </a:r>
            <a:r>
              <a:rPr sz="1100">
                <a:solidFill>
                  <a:srgbClr val="E2E8F0"/>
                </a:solidFill>
              </a:rPr>
              <a:t>1.433 pasos/s en CPU local (100k en 69.77 s)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FFI PMTP: </a:t>
            </a:r>
            <a:r>
              <a:rPr sz="1100">
                <a:solidFill>
                  <a:srgbClr val="E2E8F0"/>
                </a:solidFill>
              </a:rPr>
              <a:t>76.8 µs por transferencia zero-copy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Inmunidad a Torn-Reads: </a:t>
            </a:r>
            <a:r>
              <a:rPr sz="1100">
                <a:solidFill>
                  <a:srgbClr val="E2E8F0"/>
                </a:solidFill>
              </a:rPr>
              <a:t>0 lecturas parciales en 1.000.000 ciclos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Pruebas de Fuzzing: </a:t>
            </a:r>
            <a:r>
              <a:rPr sz="1100">
                <a:solidFill>
                  <a:srgbClr val="E2E8F0"/>
                </a:solidFill>
              </a:rPr>
              <a:t>20/20 ataques adversariales superados | 100% Superado.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Bóveda de Teoremas: </a:t>
            </a:r>
            <a:r>
              <a:rPr sz="1100">
                <a:solidFill>
                  <a:srgbClr val="E2E8F0"/>
                </a:solidFill>
              </a:rPr>
              <a:t>1.731 teoremas certificados en PostgreSQL 16 | 100% SOTA_CERTIFIED.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licon_scorecar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14: Scorecard de Verificación en Silicio: 100% de Pruebas con Exit Code 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Aportes Clave a las Ciencias de la Computación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Superando el paradigma lingüístico hacia la inteligencia continua en alta dimensión.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48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CONTRIBUCIONES TEÓRICAS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Demolición del Dogma 1D: </a:t>
            </a:r>
            <a:r>
              <a:rPr sz="1100">
                <a:solidFill>
                  <a:srgbClr val="E2E8F0"/>
                </a:solidFill>
              </a:rPr>
              <a:t>Prueba formal de que el razonamiento textual intermedio no es necesario para la computación inteligente compleja.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Formulación Stiefel Universal: </a:t>
            </a:r>
            <a:r>
              <a:rPr sz="1100">
                <a:solidFill>
                  <a:srgbClr val="E2E8F0"/>
                </a:solidFill>
              </a:rPr>
              <a:t>Unificación geométrica para la transferencia de estados entre modelos de lenguaje heterogéneos sin pérdida de isometría.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Memoria Desacoplada CAM-HiPPO: </a:t>
            </a:r>
            <a:r>
              <a:rPr sz="1100">
                <a:solidFill>
                  <a:srgbClr val="E2E8F0"/>
                </a:solidFill>
              </a:rPr>
              <a:t>Solución al problema de retención en horizontes masivos con huella O(1).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CONTRIBUCIONES DE INGENIERÍA DE SISTEMAS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Protocolo PMTP Wire: </a:t>
            </a:r>
            <a:r>
              <a:rPr sz="1100">
                <a:solidFill>
                  <a:srgbClr val="E2E8F0"/>
                </a:solidFill>
              </a:rPr>
              <a:t>Estándar de memoria compartida binaria zero-copy para enjambres de IA locales.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Arquitectura Lock-Free Dual Buffer: </a:t>
            </a:r>
            <a:r>
              <a:rPr sz="1100">
                <a:solidFill>
                  <a:srgbClr val="E2E8F0"/>
                </a:solidFill>
              </a:rPr>
              <a:t>Mecanismo libre de torn-reads con arriendos atómicos en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Demostración Práctica: </a:t>
            </a:r>
            <a:r>
              <a:rPr sz="1100">
                <a:solidFill>
                  <a:srgbClr val="E2E8F0"/>
                </a:solidFill>
              </a:rPr>
              <a:t>Primer sistema capaz de ejecutar 100.000 pasos de razonamiento interno continuo verificado en silicio real.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 Tesis Doctoral Ariel García Traba (Independent Research): Estructura Formal y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Consolidación académica para la presentación ante el tribunal universitario.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49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49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ORGANIZACIÓN DEL MANUSCRITO FORMAL DE TESIS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1: La Crisis del Token 1D: </a:t>
            </a:r>
            <a:r>
              <a:rPr sz="1100">
                <a:solidFill>
                  <a:srgbClr val="E2E8F0"/>
                </a:solidFill>
              </a:rPr>
              <a:t>Fundamentos de teoría de información, teorema DPI y límites físicos de los transformers autorregresivos.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2: Geometría Hiperesférica y Variedades de Stiefel: </a:t>
            </a:r>
            <a:r>
              <a:rPr sz="1100">
                <a:solidFill>
                  <a:srgbClr val="E2E8F0"/>
                </a:solidFill>
              </a:rPr>
              <a:t>Geometría diferencial de S^(D-1), inmersiones isométricas St(d, r) y retractor polar de Newton-Schulz.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3: Protocolo Físico PMTP y Arquitectura de Memoria: </a:t>
            </a:r>
            <a:r>
              <a:rPr sz="1100">
                <a:solidFill>
                  <a:srgbClr val="E2E8F0"/>
                </a:solidFill>
              </a:rPr>
              <a:t>Diseño del bus zero-copy, descriptor wire de 128B, semántica Release-Acquire y clúster distribuido Host-ALADIN.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4: MORPHO PELEIDES: Razonamiento Latente Continuo: </a:t>
            </a:r>
            <a:r>
              <a:rPr sz="1100">
                <a:solidFill>
                  <a:srgbClr val="E2E8F0"/>
                </a:solidFill>
              </a:rPr>
              <a:t>Formulación de los 100.000 pasos, flujo simpléctico, TR-AGN Lipschitz, memoria CAM-HiPPO y modelo de costos.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5: Interoperabilidad FFI y Capa de Presentación Flutter: </a:t>
            </a:r>
            <a:r>
              <a:rPr sz="1100">
                <a:solidFill>
                  <a:srgbClr val="E2E8F0"/>
                </a:solidFill>
              </a:rPr>
              <a:t>Puente C-ABI Dart FFI, pruebas de identidad en Qwen2.5 y dashboard interactivo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Capítulo 6: Validación Empírica en Silicio y Resultados: </a:t>
            </a:r>
            <a:r>
              <a:rPr sz="1100">
                <a:solidFill>
                  <a:srgbClr val="E2E8F0"/>
                </a:solidFill>
              </a:rPr>
              <a:t>Suites de estrés físico, logs crudos con Exit Code 0, pruebas adversariales de fuzzing y catálogo de 1.731 teoremas.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BLOQUE V: CONCLUSIONES Y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Conclusión y Visión Futura: El Tejido Cognitivo Latente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Hacia una nueva generación de inteligencia artificial soberana, continua y eficiente.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50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Nodo Aladín + Windows AGY Host | Diapositiva 50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9997135" cy="4389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EL FUTURO DEL CÓMPUTO COGNITIVO ES HIPERDIMENSIONAL Y CONTINUO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MORPHO PELEIDES y POLYDIM demuestran que la inteligencia artificial no está condenada a balbucear tokens intermedios para razonar. La cognición es un flujo continuo sobre variedades geométricas de alta dimensión.</a:t>
            </a:r>
            <a:br/>
            <a:br/>
            <a:r>
              <a:t>• La implementación de PMTP y la verificación rigurosa en silicio prueban que este paradigma no es una abstracción teórica: es más rápido, más económico, térmicamente eficiente y matemáticamente robusto.</a:t>
            </a:r>
            <a:br/>
            <a:br/>
            <a:r>
              <a:t>• Con 1.731 teoremas certificados, un clúster dual Host-ALADIN operativo y el kernel V26300 congelado y probado en silicio, el proyecto está completamente preparado para la defensa de tesis doctoral y su despliegue en supercómputo wafer-scale.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