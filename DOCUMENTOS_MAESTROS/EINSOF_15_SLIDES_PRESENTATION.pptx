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" Type="http://schemas.openxmlformats.org/officeDocument/2006/relationships/image" Target="../media/slide_media_01.jpg"/>
</Relationships>
</file>

<file path=ppt/slides/_rels/slide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2" Type="http://schemas.openxmlformats.org/officeDocument/2006/relationships/image" Target="../media/slide_media_02.jpg"/>
</Relationships>
</file>

<file path=ppt/slides/_rels/slide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3" Type="http://schemas.openxmlformats.org/officeDocument/2006/relationships/image" Target="../media/slide_media_03.jpg"/>
</Relationships>
</file>

<file path=ppt/slides/_rels/slide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4" Type="http://schemas.openxmlformats.org/officeDocument/2006/relationships/image" Target="../media/slide_media_04.jpg"/>
</Relationships>
</file>

<file path=ppt/slides/_rels/slide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5" Type="http://schemas.openxmlformats.org/officeDocument/2006/relationships/image" Target="../media/slide_media_05.jpg"/>
</Relationships>
</file>

<file path=ppt/slides/_rels/slide6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6" Type="http://schemas.openxmlformats.org/officeDocument/2006/relationships/image" Target="../media/slide_media_06.jpg"/>
</Relationships>
</file>

<file path=ppt/slides/_rels/slide7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7" Type="http://schemas.openxmlformats.org/officeDocument/2006/relationships/image" Target="../media/slide_media_07.jpg"/>
</Relationships>
</file>

<file path=ppt/slides/_rels/slide8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8" Type="http://schemas.openxmlformats.org/officeDocument/2006/relationships/image" Target="../media/slide_media_08.jpg"/>
</Relationships>
</file>

<file path=ppt/slides/_rels/slide9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9" Type="http://schemas.openxmlformats.org/officeDocument/2006/relationships/image" Target="../media/slide_media_09.jpg"/>
</Relationships>
</file>

<file path=ppt/slides/_rels/slide10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0" Type="http://schemas.openxmlformats.org/officeDocument/2006/relationships/image" Target="../media/slide_media_10.jpg"/>
</Relationships>
</file>

<file path=ppt/slides/_rels/slide1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1" Type="http://schemas.openxmlformats.org/officeDocument/2006/relationships/image" Target="../media/slide_media_11.jpg"/>
</Relationships>
</file>

<file path=ppt/slides/_rels/slide12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2" Type="http://schemas.openxmlformats.org/officeDocument/2006/relationships/image" Target="../media/slide_media_12.jpg"/>
</Relationships>
</file>

<file path=ppt/slides/_rels/slide13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3" Type="http://schemas.openxmlformats.org/officeDocument/2006/relationships/image" Target="../media/slide_media_13.jpg"/>
</Relationships>
</file>

<file path=ppt/slides/_rels/slide14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4" Type="http://schemas.openxmlformats.org/officeDocument/2006/relationships/image" Target="../media/slide_media_14.jpg"/>
</Relationships>
</file>

<file path=ppt/slides/_rels/slide15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7.xml"/>
  <Relationship Id="rIdPic15" Type="http://schemas.openxmlformats.org/officeDocument/2006/relationships/image" Target="../media/slide_media_15.jpg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EINSOF: El Paradigma de Vectores Continuos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Superando el Cuello de Botella del Texto 1D en Variedades de Stiefel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Autor: Ariel García Traba (Independent Research / EinsofOS)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Co-Desarrollo y Arquitectura: Antigravity (AGY) - Google DeepMind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Avance Central: Ingesta física directa de tensores vía memoria compartida (PMTP)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Cero Peaje de Tokens: Estados cognitivos en S^(D-1) sin serialización 1D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Emblema del Proyecto: MORPHO PELEIDES (Tejido Cognitivo Latente Continuo)</a:t>
            </a:r>
          </a:p>
        </p:txBody>
      </p:sp>
      <!-- Rendered Image on Right Side -->
      <p:pic>
        <p:nvPicPr>
          <p:cNvPr id="101" name="Graphic 1" descr="EINSOF Slide Graphic 1"/>
          <p:cNvPicPr>
            <a:picLocks noChangeAspect="1"/>
          </p:cNvPicPr>
          <p:nvPr/>
        </p:nvPicPr>
        <p:blipFill>
          <a:blip r:embed="rIdPic1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01 / 15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El Cuello de Botella 1D: La Crisis de los LLMs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Por qué Tokenizar la Realidad Destruye Información (Shannon DPI)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Teorema DPI de Shannon: I(X;Z) &lt;= I(X;Y) irreversible al forzar señales a tokens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Explosión de Contexto: Un tensor de 4096 floats quema ~24.576 tokens de texto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Colapso de Fase: Radar I/Q, fase sonar y Doppler se destruyen al tokenizar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Evidencia Empírica: DeepSeek-R1 y Qwen-2.5 sufrieron hasta 50% timeouts en Aladín</a:t>
            </a:r>
          </a:p>
        </p:txBody>
      </p:sp>
      <!-- Rendered Image on Right Side -->
      <p:pic>
        <p:nvPicPr>
          <p:cNvPr id="102" name="Graphic 2" descr="EINSOF Slide Graphic 2"/>
          <p:cNvPicPr>
            <a:picLocks noChangeAspect="1"/>
          </p:cNvPicPr>
          <p:nvPr/>
        </p:nvPicPr>
        <p:blipFill>
          <a:blip r:embed="rIdPic2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02 / 15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Arquitectura Einsof: Ingesta en Manifolds Continuos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De Espacios de Hilbert L²(R) al Residual Stream sin Tokens Intermedios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Sustrato Matemático: Señales proyectadas a la variedad de Stiefel St(k, n)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Expansión Chebyshev Continua: Campos espaciales e imágenes de resolución infinita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Acople Residual Directo: El vector sensorial conecta directo a activaciones latentes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Contrato de Silicio: Transferencia en memoria compartida (/dev/shm) en 1.32 ms</a:t>
            </a:r>
          </a:p>
        </p:txBody>
      </p:sp>
      <!-- Rendered Image on Right Side -->
      <p:pic>
        <p:nvPicPr>
          <p:cNvPr id="103" name="Graphic 3" descr="EINSOF Slide Graphic 3"/>
          <p:cNvPicPr>
            <a:picLocks noChangeAspect="1"/>
          </p:cNvPicPr>
          <p:nvPr/>
        </p:nvPicPr>
        <p:blipFill>
          <a:blip r:embed="rIdPic3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03 / 15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Protocolo PMTP: Telepatía de Silicio Zero-Copy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Descriptores Atómicos de 64 Bytes Reemplazando Megabytes de JSON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Arquitectura SLAB_ID: Intercambio inter-proceso mediante punteros en RAM física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Cero Sobrecarga de Serialización: Arrays IEEE-754 binary64 puros; 0 tokens cobrados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Seguridad Criptográfica: Firmas BLAKE2s y control anti-replay de nanosegundos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Speedup Medido: 6.15x de aceleración frente a HTTP JSON en pruebas duales</a:t>
            </a:r>
          </a:p>
        </p:txBody>
      </p:sp>
      <!-- Rendered Image on Right Side -->
      <p:pic>
        <p:nvPicPr>
          <p:cNvPr id="104" name="Graphic 4" descr="EINSOF Slide Graphic 4"/>
          <p:cNvPicPr>
            <a:picLocks noChangeAspect="1"/>
          </p:cNvPicPr>
          <p:nvPr/>
        </p:nvPicPr>
        <p:blipFill>
          <a:blip r:embed="rIdPic4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04 / 15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Garantía Matemática: Invarianza de Stiefel y Neumaier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Ortogonalidad de Máquina Exacta ||U^T U - I||_F &lt;= 10^-15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Variedad de Stiefel: St(d_in, d_out) preserva normas y ángulos geodésicos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Acumulador Compensado Neumaier: Erradica la cancelación catastrófica de punto flotante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Alineamiento de Subespacio: Retiene 99.75% a 100.0% de energía semántica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Verificación Formal: Certificado en 1.731 teoremas formales en PostgreSQL 16</a:t>
            </a:r>
          </a:p>
        </p:txBody>
      </p:sp>
      <!-- Rendered Image on Right Side -->
      <p:pic>
        <p:nvPicPr>
          <p:cNvPr id="105" name="Graphic 5" descr="EINSOF Slide Graphic 5"/>
          <p:cNvPicPr>
            <a:picLocks noChangeAspect="1"/>
          </p:cNvPicPr>
          <p:nvPr/>
        </p:nvPicPr>
        <p:blipFill>
          <a:blip r:embed="rIdPic5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05 / 15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Dominio Físico 1: SONAR de Barrido Lateral y Multihaz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Naufragio Real NOAA SS Skinner y Análisis Hidroacústico de Columna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Datos Reales: Escaneo NOAA Ocean Exploration del SS Skinner (180 KB, SHA-256 verificado)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Falla de IA Normal: Descripciones literarias vagas e incapaces de aislar orientación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Ingesta Einsof: Proyección a S^2047 con 1.11e-16 de defecto; procesado en 1.38 ms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Cero Peaje: Ingiere retrodispersión batimétrica completa sin gastar 12.288 tokens</a:t>
            </a:r>
          </a:p>
        </p:txBody>
      </p:sp>
      <!-- Rendered Image on Right Side -->
      <p:pic>
        <p:nvPicPr>
          <p:cNvPr id="106" name="Graphic 6" descr="EINSOF Slide Graphic 6"/>
          <p:cNvPicPr>
            <a:picLocks noChangeAspect="1"/>
          </p:cNvPicPr>
          <p:nvPr/>
        </p:nvPicPr>
        <p:blipFill>
          <a:blip r:embed="rIdPic6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06 / 15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Dominio Físico 2: RADAR Phased-Array 3D/4D y SAR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FMCW MIMO, Cuadratura I/Q Compleja y Coherencia Polarimétrica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Espacio de Ondas Complejas: Señales electromagnéticas en C^(N_r x N_d x N_az x N_el)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Por qué NumPy Falla: Aplana canales (HH/VV/HV/VH) y destruye coherencia de fase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Subespacio Einsof: Descompone ecos de blanco y clutter con 99.75% de retención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Extracción Doppler: Firma de velocidad radial computada en 2.15 ms en CPU Host</a:t>
            </a:r>
          </a:p>
        </p:txBody>
      </p:sp>
      <!-- Rendered Image on Right Side -->
      <p:pic>
        <p:nvPicPr>
          <p:cNvPr id="107" name="Graphic 7" descr="EINSOF Slide Graphic 7"/>
          <p:cNvPicPr>
            <a:picLocks noChangeAspect="1"/>
          </p:cNvPicPr>
          <p:nvPr/>
        </p:nvPicPr>
        <p:blipFill>
          <a:blip r:embed="rIdPic7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07 / 15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Dominio Físico 3: LiDAR 3D y Robótica Espacial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Geometría ToF Continua e Invarianza de Espinor de Clifford SO(3)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Nube Espacial Continua: Vectores unitarios en SE(3) de dimensión 3072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Invarianza Rotacional: Rotores de Clifford bivectoriales preservan obstáculos bajo giro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Falla de Voxelización: Rejillas comunes pierden bordes y sufren desajuste de marcos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Ventaja Autónoma: Decisiones de trayectoria calculadas directo en el manifold</a:t>
            </a:r>
          </a:p>
        </p:txBody>
      </p:sp>
      <!-- Rendered Image on Right Side -->
      <p:pic>
        <p:nvPicPr>
          <p:cNvPr id="108" name="Graphic 8" descr="EINSOF Slide Graphic 8"/>
          <p:cNvPicPr>
            <a:picLocks noChangeAspect="1"/>
          </p:cNvPicPr>
          <p:nvPr/>
        </p:nvPicPr>
        <p:blipFill>
          <a:blip r:embed="rIdPic8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08 / 15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Dominio Físico 4: Ultrasonido Médico y Doppler Color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Eco Tisular RF B-Mode vs Flujo Sanguíneo Arterial Pulsátil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Desafío Clínico: Separar eco estático de tejido vs microflujo sanguíneo turbulento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Falla de Whisper/Vision: Transcriben silencio o emborronan frecuencias Doppler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Proyección Hilbert: Presión acústica p(t) en S^2047 aísla el corrimiento Doppler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Ejecución en el Borde: Latencia de 1.32 ms para dispositivos de diagnóstico portátiles</a:t>
            </a:r>
          </a:p>
        </p:txBody>
      </p:sp>
      <!-- Rendered Image on Right Side -->
      <p:pic>
        <p:nvPicPr>
          <p:cNvPr id="109" name="Graphic 9" descr="EINSOF Slide Graphic 9"/>
          <p:cNvPicPr>
            <a:picLocks noChangeAspect="1"/>
          </p:cNvPicPr>
          <p:nvPr/>
        </p:nvPicPr>
        <p:blipFill>
          <a:blip r:embed="rIdPic9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09 / 15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Dominio Físico 5: Observación Satelital de la Tierra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NASA Apollo 17 'Blue Marble' y Campos de Chebyshev Continuos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Resolución Infinita: Imágenes como funciones escalares f(x,y) = sum c_ij T_i(x) T_j(y)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Superando JPEG: Foto NASA de 6.5 MB comprimida en vector 4096-d sin pérdida de curvatura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Acople Multiespectral: Correlaciona bandas ópticas y térmicas sin 15.000 parches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Certificación en Silicio: Defecto de norma Neumaier = 0.00e+00 exacto; 0 tokens</a:t>
            </a:r>
          </a:p>
        </p:txBody>
      </p:sp>
      <!-- Rendered Image on Right Side -->
      <p:pic>
        <p:nvPicPr>
          <p:cNvPr id="110" name="Graphic 10" descr="EINSOF Slide Graphic 10"/>
          <p:cNvPicPr>
            <a:picLocks noChangeAspect="1"/>
          </p:cNvPicPr>
          <p:nvPr/>
        </p:nvPicPr>
        <p:blipFill>
          <a:blip r:embed="rIdPic10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10 / 15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Telepatía Latente Inter-Modelo: Fin del Ping-Pong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Razonamiento Encadenado Multi-Salto sin Colapso Conversacional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Problema Multi-Agente: Agentes de texto pierden &gt;3.000 tokens por salto dialéctico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Colapso de Pensamiento: DeepSeek-R1 tardó 267s en Aladín generando 400 &lt;think&gt; tokens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Cadena Geodésica 16 Saltos: Transfiere estado vía /dev/shm; Fidelidad Coseno = 1.000000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Prueba de Ablación Causal: Vector inyectado guía al receptor con 75.0% de acierto</a:t>
            </a:r>
          </a:p>
        </p:txBody>
      </p:sp>
      <!-- Rendered Image on Right Side -->
      <p:pic>
        <p:nvPicPr>
          <p:cNvPr id="111" name="Graphic 11" descr="EINSOF Slide Graphic 11"/>
          <p:cNvPicPr>
            <a:picLocks noChangeAspect="1"/>
          </p:cNvPicPr>
          <p:nvPr/>
        </p:nvPicPr>
        <p:blipFill>
          <a:blip r:embed="rIdPic11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11 / 15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Prueba Empírica en Silicio: Benchmark de 600 Tests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500 Tareas Vectoriales + 100 Problemas Canónicos en PostgreSQL 16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Por qué NumPy Falla: IA con NumPy solo logra 20.0% (azar puro) en decodificación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100 Benchmarks Canónicos: Modelos 1D fallan cinemática (kerf 3mm, flecha L/300, VRPTW)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Cobertura Total: 200 sensores físicos + 300 manifolds SOTA + 100 canónicos = 600 tests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Exit Code 0: 600 / 600 PASS certificado en PostgreSQL 16 en 9.389 ms</a:t>
            </a:r>
          </a:p>
        </p:txBody>
      </p:sp>
      <!-- Rendered Image on Right Side -->
      <p:pic>
        <p:nvPicPr>
          <p:cNvPr id="112" name="Graphic 12" descr="EINSOF Slide Graphic 12"/>
          <p:cNvPicPr>
            <a:picLocks noChangeAspect="1"/>
          </p:cNvPicPr>
          <p:nvPr/>
        </p:nvPicPr>
        <p:blipFill>
          <a:blip r:embed="rIdPic12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12 / 15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Soberanía de Clúster Dual: Host AGY + Nodo Aladín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Coordinación Asimétrica Heterogénea (Windows AVX2 + Debian 13 Headless)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Windows AGY Host: Control de alta frecuencia, GCC 14 C++20, Rust 2024 y PostgreSQL 16.4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Debian 13 Aladín: Intel i3-8100 4C/4T @ 3.6GHz, 8GB DDR4, daemon /dev/shm en puerto 9999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Cliente de Telepatía Autónomo: Sockets cifrados BLAKE2s con IPC sub-milisegundo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Cero Dependencia de Nube: 100% operativo en silicio físico propio amortizado</a:t>
            </a:r>
          </a:p>
        </p:txBody>
      </p:sp>
      <!-- Rendered Image on Right Side -->
      <p:pic>
        <p:nvPicPr>
          <p:cNvPr id="113" name="Graphic 13" descr="EINSOF Slide Graphic 13"/>
          <p:cNvPicPr>
            <a:picLocks noChangeAspect="1"/>
          </p:cNvPicPr>
          <p:nvPr/>
        </p:nvPicPr>
        <p:blipFill>
          <a:blip r:embed="rIdPic13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13 / 15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Impacto Industrial y Empresarial: 98% Ahorro de Costos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Robótica Ciberfísica en Tiempo Real, Defensa, Salud y Redes Eléctricas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Revolución Económica: Erradica la facturación mensual por tokens ($0.00 / mes local)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Ultra-Baja Latencia: Despacho en microsegundos para control cerrado en drones y AUVs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Cero Fugas de Datos: Telemetría médica y defensa jamás sale de la memoria RAM local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Lago Vectorial PostgreSQL 16: Indexación HNSW nativa en pgvector multi-modal</a:t>
            </a:r>
          </a:p>
        </p:txBody>
      </p:sp>
      <!-- Rendered Image on Right Side -->
      <p:pic>
        <p:nvPicPr>
          <p:cNvPr id="114" name="Graphic 14" descr="EINSOF Slide Graphic 14"/>
          <p:cNvPicPr>
            <a:picLocks noChangeAspect="1"/>
          </p:cNvPicPr>
          <p:nvPr/>
        </p:nvPicPr>
        <p:blipFill>
          <a:blip r:embed="rIdPic14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14 / 15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!-- Dark Background Rect --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</p:sp>
      <!-- Cyan Accent Top Line -->
      <p:sp>
        <p:nvSpPr>
          <p:cNvPr id="3" name="AccentLine"/>
          <p:cNvSpPr/>
          <p:nvPr/>
        </p:nvSpPr>
        <p:spPr>
          <a:xfrm>
            <a:off x="600000" y="320000"/>
            <a:ext cx="10992000" cy="3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!-- Title & Subtitle Box (Left side: width 5800000) -->
      <p:sp>
        <p:nvSpPr>
          <p:cNvPr id="4" name="TitleBox"/>
          <p:cNvSpPr/>
          <p:nvPr/>
        </p:nvSpPr>
        <p:spPr>
          <a:xfrm>
            <a:off x="600000" y="480000"/>
            <a:ext cx="5700000" cy="11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 b="1">
                <a:solidFill>
                  <a:srgbClr val="FFFFFF"/>
                </a:solidFill>
              </a:rPr>
              <a:t>Conclusión: 'Dimension Is All You Need'</a:t>
            </a:r>
          </a:p>
          <a:p>
            <a:r>
              <a:rPr lang="en-US" sz="1200" b="0" i="1">
                <a:solidFill>
                  <a:srgbClr val="00D2FF"/>
                </a:solidFill>
              </a:rPr>
              <a:t>La Revolución de Vectores de Pesos Abiertos y Ciencia Abierta</a:t>
            </a:r>
          </a:p>
        </p:txBody>
      </p:sp>
      <!-- Technical Content / Bullets (Left side) -->
      <p:sp>
        <p:nvSpPr>
          <p:cNvPr id="5" name="BulletsBox"/>
          <p:cNvSpPr/>
          <p:nvPr/>
        </p:nvSpPr>
        <p:spPr>
          <a:xfrm>
            <a:off x="600000" y="1650000"/>
            <a:ext cx="57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Publicaciones Formales: Paper V1550, Whitebook Enterprise y Tesis Doctoral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Ciencia Reproducible: Notebooks Colab, logs de silicio y esquemas DB públicos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Hito Inminente: Destilación sobre 14 modelos de pesos abiertos en clúster GPU Atlas</a:t>
            </a:r>
          </a:p>
          <a:p>
            <a:pPr lvl="0">
              <a:buFont typeface="Arial"/>
              <a:buChar char="•"/>
            </a:pPr>
            <a:r>
              <a:rPr lang="en-US" sz="1300" b="0">
                <a:solidFill>
                  <a:srgbClr val="E2E8F0"/>
                </a:solidFill>
              </a:rPr>
              <a:t>Futuro de la IA: Trascendiendo la ilusión del texto 1D hacia la geometría continua</a:t>
            </a:r>
          </a:p>
        </p:txBody>
      </p:sp>
      <!-- Rendered Image on Right Side -->
      <p:pic>
        <p:nvPicPr>
          <p:cNvPr id="115" name="Graphic 15" descr="EINSOF Slide Graphic 15"/>
          <p:cNvPicPr>
            <a:picLocks noChangeAspect="1"/>
          </p:cNvPicPr>
          <p:nvPr/>
        </p:nvPicPr>
        <p:blipFill>
          <a:blip r:embed="rIdPic15"/>
          <a:stretch>
            <a:fillRect/>
          </a:stretch>
        </p:blipFill>
        <p:spPr>
          <a:xfrm>
            <a:off x="6500000" y="1400000"/>
            <a:ext cx="5100000" cy="4750000"/>
          </a:xfrm>
          <a:prstGeom prst="rect">
            <a:avLst/>
          </a:prstGeom>
          <a:ln w="25400">
            <a:solidFill>
              <a:srgbClr val="00D2FF"/>
            </a:solidFill>
          </a:ln>
        </p:spPr>
      </p:pic>
      <!-- FOOTER LINE -->
      <p:sp>
        <p:nvSpPr>
          <p:cNvPr id="6" name="FooterLine"/>
          <p:cNvSpPr/>
          <p:nvPr/>
        </p:nvSpPr>
        <p:spPr>
          <a:xfrm>
            <a:off x="600000" y="6350000"/>
            <a:ext cx="10992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!-- FOOTER TEXT (3-Part Institutional Sovereign Bar) -->
      <p:sp>
        <p:nvSpPr>
          <p:cNvPr id="7" name="FooterBox"/>
          <p:cNvSpPr/>
          <p:nvPr/>
        </p:nvSpPr>
        <p:spPr>
          <a:xfrm>
            <a:off x="600000" y="6420000"/>
            <a:ext cx="10992000" cy="300000"/>
          </a:xfrm>
          <a:prstGeom prst="rect">
            <a:avLst/>
          </a:prstGeom>
          <a:noFill/>
          <a:ln>
            <a:noFill/>
          </a:ln>
        </p:spPr>
        <p:txBody>
          <a:bodyPr wrap="none" rtlCol="0"/>
          <a:lstStyle/>
          <a:p>
            <a:r>
              <a:rPr lang="en-US" sz="850" b="1">
                <a:solidFill>
                  <a:srgbClr val="94A3B8"/>
                </a:solidFill>
              </a:rPr>
              <a:t>Ariel García Traba (Independent Research / EinsofOS) &amp; Antigravity (AGY)   •   POLYDIM-EINSOF • MORPHO PELEIDES • PMTP Zero-Copy   •   Nodo Aladín + Windows AGY Host | Slide 15 / 15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